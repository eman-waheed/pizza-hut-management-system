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Pompiere" charset="1" panose="02000000000000000000"/>
      <p:regular r:id="rId22"/>
    </p:embeddedFont>
    <p:embeddedFont>
      <p:font typeface="Shrikhand" charset="1" panose="02000000000000000000"/>
      <p:regular r:id="rId23"/>
    </p:embeddedFont>
    <p:embeddedFont>
      <p:font typeface="Krabuler" charset="1" panose="00000500000000000000"/>
      <p:regular r:id="rId24"/>
    </p:embeddedFont>
    <p:embeddedFont>
      <p:font typeface="Montserrat" charset="1" panose="00000500000000000000"/>
      <p:regular r:id="rId25"/>
    </p:embeddedFont>
    <p:embeddedFont>
      <p:font typeface="Sree Krushnadevaraya" charset="1" panose="02000600000000000000"/>
      <p:regular r:id="rId26"/>
    </p:embeddedFont>
    <p:embeddedFont>
      <p:font typeface="Michegar" charset="1" panose="00000000000000000000"/>
      <p:regular r:id="rId27"/>
    </p:embeddedFont>
    <p:embeddedFont>
      <p:font typeface="Noto Serif Ethiopic Condensed" charset="1" panose="02020502060505020204"/>
      <p:regular r:id="rId28"/>
    </p:embeddedFont>
    <p:embeddedFont>
      <p:font typeface="Archivo Black" charset="1" panose="020B0A03020202020B04"/>
      <p:regular r:id="rId29"/>
    </p:embeddedFont>
    <p:embeddedFont>
      <p:font typeface="Garet" charset="1" panose="00000000000000000000"/>
      <p:regular r:id="rId30"/>
    </p:embeddedFont>
    <p:embeddedFont>
      <p:font typeface="Noto Serif Ethiopic Condensed Bold" charset="1" panose="02020502060505020204"/>
      <p:regular r:id="rId31"/>
    </p:embeddedFont>
    <p:embeddedFont>
      <p:font typeface="Handy Casual" charset="1" panose="000005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media/image33.png" Type="http://schemas.openxmlformats.org/officeDocument/2006/relationships/image"/><Relationship Id="rId13" Target="../media/image34.svg" Type="http://schemas.openxmlformats.org/officeDocument/2006/relationships/image"/><Relationship Id="rId14" Target="../media/image35.png" Type="http://schemas.openxmlformats.org/officeDocument/2006/relationships/image"/><Relationship Id="rId15" Target="../media/image36.svg" Type="http://schemas.openxmlformats.org/officeDocument/2006/relationships/image"/><Relationship Id="rId2" Target="../media/image25.png" Type="http://schemas.openxmlformats.org/officeDocument/2006/relationships/image"/><Relationship Id="rId3" Target="../media/image2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41.png" Type="http://schemas.openxmlformats.org/officeDocument/2006/relationships/image"/><Relationship Id="rId7" Target="../media/image4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47.png" Type="http://schemas.openxmlformats.org/officeDocument/2006/relationships/image"/><Relationship Id="rId7" Target="../media/image48.png" Type="http://schemas.openxmlformats.org/officeDocument/2006/relationships/image"/><Relationship Id="rId8" Target="../media/image4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50.png" Type="http://schemas.openxmlformats.org/officeDocument/2006/relationships/image"/><Relationship Id="rId5" Target="../media/image51.png" Type="http://schemas.openxmlformats.org/officeDocument/2006/relationships/image"/><Relationship Id="rId6" Target="../media/image5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55.svg" Type="http://schemas.openxmlformats.org/officeDocument/2006/relationships/image"/><Relationship Id="rId4" Target="../media/image56.png" Type="http://schemas.openxmlformats.org/officeDocument/2006/relationships/image"/><Relationship Id="rId5" Target="../media/image57.svg" Type="http://schemas.openxmlformats.org/officeDocument/2006/relationships/image"/><Relationship Id="rId6" Target="../media/image5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 Id="rId3" Target="../media/image60.png" Type="http://schemas.openxmlformats.org/officeDocument/2006/relationships/image"/><Relationship Id="rId4" Target="../media/image61.png" Type="http://schemas.openxmlformats.org/officeDocument/2006/relationships/image"/><Relationship Id="rId5" Target="../media/image6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1.png" Type="http://schemas.openxmlformats.org/officeDocument/2006/relationships/image"/><Relationship Id="rId11" Target="../media/image72.svg" Type="http://schemas.openxmlformats.org/officeDocument/2006/relationships/image"/><Relationship Id="rId12" Target="../media/image73.png" Type="http://schemas.openxmlformats.org/officeDocument/2006/relationships/image"/><Relationship Id="rId13" Target="../media/image74.png" Type="http://schemas.openxmlformats.org/officeDocument/2006/relationships/image"/><Relationship Id="rId14" Target="../media/image35.png" Type="http://schemas.openxmlformats.org/officeDocument/2006/relationships/image"/><Relationship Id="rId15" Target="../media/image36.svg" Type="http://schemas.openxmlformats.org/officeDocument/2006/relationships/image"/><Relationship Id="rId16" Target="../media/image75.png" Type="http://schemas.openxmlformats.org/officeDocument/2006/relationships/image"/><Relationship Id="rId17" Target="../media/image76.svg" Type="http://schemas.openxmlformats.org/officeDocument/2006/relationships/image"/><Relationship Id="rId2" Target="../media/image63.png" Type="http://schemas.openxmlformats.org/officeDocument/2006/relationships/image"/><Relationship Id="rId3" Target="../media/image64.svg" Type="http://schemas.openxmlformats.org/officeDocument/2006/relationships/image"/><Relationship Id="rId4" Target="../media/image65.png" Type="http://schemas.openxmlformats.org/officeDocument/2006/relationships/image"/><Relationship Id="rId5" Target="../media/image66.svg" Type="http://schemas.openxmlformats.org/officeDocument/2006/relationships/image"/><Relationship Id="rId6" Target="../media/image67.png" Type="http://schemas.openxmlformats.org/officeDocument/2006/relationships/image"/><Relationship Id="rId7" Target="../media/image68.svg" Type="http://schemas.openxmlformats.org/officeDocument/2006/relationships/image"/><Relationship Id="rId8" Target="../media/image69.png" Type="http://schemas.openxmlformats.org/officeDocument/2006/relationships/image"/><Relationship Id="rId9" Target="../media/image7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5.png" Type="http://schemas.openxmlformats.org/officeDocument/2006/relationships/image"/><Relationship Id="rId11" Target="../media/image86.png" Type="http://schemas.openxmlformats.org/officeDocument/2006/relationships/image"/><Relationship Id="rId12" Target="../media/image87.png" Type="http://schemas.openxmlformats.org/officeDocument/2006/relationships/image"/><Relationship Id="rId2" Target="../media/image77.png" Type="http://schemas.openxmlformats.org/officeDocument/2006/relationships/image"/><Relationship Id="rId3" Target="../media/image78.svg" Type="http://schemas.openxmlformats.org/officeDocument/2006/relationships/image"/><Relationship Id="rId4" Target="../media/image79.png" Type="http://schemas.openxmlformats.org/officeDocument/2006/relationships/image"/><Relationship Id="rId5" Target="../media/image80.svg" Type="http://schemas.openxmlformats.org/officeDocument/2006/relationships/image"/><Relationship Id="rId6" Target="../media/image81.png" Type="http://schemas.openxmlformats.org/officeDocument/2006/relationships/image"/><Relationship Id="rId7" Target="../media/image82.svg" Type="http://schemas.openxmlformats.org/officeDocument/2006/relationships/image"/><Relationship Id="rId8" Target="../media/image83.png" Type="http://schemas.openxmlformats.org/officeDocument/2006/relationships/image"/><Relationship Id="rId9" Target="../media/image8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8.jpeg" Type="http://schemas.openxmlformats.org/officeDocument/2006/relationships/image"/><Relationship Id="rId2" Target="../media/image77.png" Type="http://schemas.openxmlformats.org/officeDocument/2006/relationships/image"/><Relationship Id="rId3" Target="../media/image78.svg" Type="http://schemas.openxmlformats.org/officeDocument/2006/relationships/image"/><Relationship Id="rId4" Target="../media/image79.png" Type="http://schemas.openxmlformats.org/officeDocument/2006/relationships/image"/><Relationship Id="rId5" Target="../media/image80.svg" Type="http://schemas.openxmlformats.org/officeDocument/2006/relationships/image"/><Relationship Id="rId6" Target="../media/image81.png" Type="http://schemas.openxmlformats.org/officeDocument/2006/relationships/image"/><Relationship Id="rId7" Target="../media/image82.svg" Type="http://schemas.openxmlformats.org/officeDocument/2006/relationships/image"/><Relationship Id="rId8" Target="../media/image83.png" Type="http://schemas.openxmlformats.org/officeDocument/2006/relationships/image"/><Relationship Id="rId9" Target="../media/image8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9.png" Type="http://schemas.openxmlformats.org/officeDocument/2006/relationships/image"/><Relationship Id="rId3" Target="../media/image90.svg" Type="http://schemas.openxmlformats.org/officeDocument/2006/relationships/image"/><Relationship Id="rId4" Target="../media/image91.png" Type="http://schemas.openxmlformats.org/officeDocument/2006/relationships/image"/><Relationship Id="rId5" Target="../media/image92.svg" Type="http://schemas.openxmlformats.org/officeDocument/2006/relationships/image"/><Relationship Id="rId6" Target="../media/image93.png" Type="http://schemas.openxmlformats.org/officeDocument/2006/relationships/image"/><Relationship Id="rId7" Target="../media/image94.svg" Type="http://schemas.openxmlformats.org/officeDocument/2006/relationships/image"/><Relationship Id="rId8" Target="../media/image95.png" Type="http://schemas.openxmlformats.org/officeDocument/2006/relationships/image"/><Relationship Id="rId9" Target="../media/image9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7.png" Type="http://schemas.openxmlformats.org/officeDocument/2006/relationships/image"/><Relationship Id="rId3" Target="../media/image98.svg" Type="http://schemas.openxmlformats.org/officeDocument/2006/relationships/image"/><Relationship Id="rId4" Target="../media/image99.png" Type="http://schemas.openxmlformats.org/officeDocument/2006/relationships/image"/><Relationship Id="rId5" Target="../media/image100.png" Type="http://schemas.openxmlformats.org/officeDocument/2006/relationships/image"/><Relationship Id="rId6" Target="../media/image101.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media/image108.png" Type="http://schemas.openxmlformats.org/officeDocument/2006/relationships/image"/><Relationship Id="rId13" Target="../media/image109.svg" Type="http://schemas.openxmlformats.org/officeDocument/2006/relationships/image"/><Relationship Id="rId2" Target="../media/image102.png" Type="http://schemas.openxmlformats.org/officeDocument/2006/relationships/image"/><Relationship Id="rId3" Target="../media/image103.svg" Type="http://schemas.openxmlformats.org/officeDocument/2006/relationships/image"/><Relationship Id="rId4" Target="../media/image104.png" Type="http://schemas.openxmlformats.org/officeDocument/2006/relationships/image"/><Relationship Id="rId5" Target="../media/image105.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06.png" Type="http://schemas.openxmlformats.org/officeDocument/2006/relationships/image"/><Relationship Id="rId9" Target="../media/image10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true" flipV="false" rot="-10800000">
            <a:off x="-1422903" y="8895219"/>
            <a:ext cx="11552272" cy="1596314"/>
          </a:xfrm>
          <a:custGeom>
            <a:avLst/>
            <a:gdLst/>
            <a:ahLst/>
            <a:cxnLst/>
            <a:rect r="r" b="b" t="t" l="l"/>
            <a:pathLst>
              <a:path h="1596314" w="11552272">
                <a:moveTo>
                  <a:pt x="11552272" y="0"/>
                </a:moveTo>
                <a:lnTo>
                  <a:pt x="0" y="0"/>
                </a:lnTo>
                <a:lnTo>
                  <a:pt x="0" y="1596314"/>
                </a:lnTo>
                <a:lnTo>
                  <a:pt x="11552272" y="1596314"/>
                </a:lnTo>
                <a:lnTo>
                  <a:pt x="1155227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636267" y="-14410"/>
            <a:ext cx="11546413" cy="1595504"/>
          </a:xfrm>
          <a:custGeom>
            <a:avLst/>
            <a:gdLst/>
            <a:ahLst/>
            <a:cxnLst/>
            <a:rect r="r" b="b" t="t" l="l"/>
            <a:pathLst>
              <a:path h="1595504" w="11546413">
                <a:moveTo>
                  <a:pt x="11546413" y="0"/>
                </a:moveTo>
                <a:lnTo>
                  <a:pt x="0" y="0"/>
                </a:lnTo>
                <a:lnTo>
                  <a:pt x="0" y="1595504"/>
                </a:lnTo>
                <a:lnTo>
                  <a:pt x="11546413" y="1595504"/>
                </a:lnTo>
                <a:lnTo>
                  <a:pt x="1154641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238933" y="4988075"/>
            <a:ext cx="11029225" cy="2207099"/>
          </a:xfrm>
          <a:prstGeom prst="rect">
            <a:avLst/>
          </a:prstGeom>
        </p:spPr>
        <p:txBody>
          <a:bodyPr anchor="t" rtlCol="false" tIns="0" lIns="0" bIns="0" rIns="0">
            <a:spAutoFit/>
          </a:bodyPr>
          <a:lstStyle/>
          <a:p>
            <a:pPr algn="l">
              <a:lnSpc>
                <a:spcPts val="16517"/>
              </a:lnSpc>
            </a:pPr>
            <a:r>
              <a:rPr lang="en-US" sz="16684" spc="183">
                <a:solidFill>
                  <a:srgbClr val="3B6364"/>
                </a:solidFill>
                <a:latin typeface="Pompiere"/>
                <a:ea typeface="Pompiere"/>
                <a:cs typeface="Pompiere"/>
                <a:sym typeface="Pompiere"/>
              </a:rPr>
              <a:t>PRESENTATION</a:t>
            </a:r>
          </a:p>
        </p:txBody>
      </p:sp>
      <p:sp>
        <p:nvSpPr>
          <p:cNvPr name="Freeform 5" id="5"/>
          <p:cNvSpPr/>
          <p:nvPr/>
        </p:nvSpPr>
        <p:spPr>
          <a:xfrm flipH="false" flipV="false" rot="-1399026">
            <a:off x="15624889" y="6190407"/>
            <a:ext cx="1719464" cy="2465181"/>
          </a:xfrm>
          <a:custGeom>
            <a:avLst/>
            <a:gdLst/>
            <a:ahLst/>
            <a:cxnLst/>
            <a:rect r="r" b="b" t="t" l="l"/>
            <a:pathLst>
              <a:path h="2465181" w="1719464">
                <a:moveTo>
                  <a:pt x="0" y="0"/>
                </a:moveTo>
                <a:lnTo>
                  <a:pt x="1719464" y="0"/>
                </a:lnTo>
                <a:lnTo>
                  <a:pt x="1719464" y="2465181"/>
                </a:lnTo>
                <a:lnTo>
                  <a:pt x="0" y="24651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10817" y="4780419"/>
            <a:ext cx="3596335" cy="4114800"/>
          </a:xfrm>
          <a:custGeom>
            <a:avLst/>
            <a:gdLst/>
            <a:ahLst/>
            <a:cxnLst/>
            <a:rect r="r" b="b" t="t" l="l"/>
            <a:pathLst>
              <a:path h="4114800" w="3596335">
                <a:moveTo>
                  <a:pt x="0" y="0"/>
                </a:moveTo>
                <a:lnTo>
                  <a:pt x="3596335" y="0"/>
                </a:lnTo>
                <a:lnTo>
                  <a:pt x="3596335"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1248928" y="2625875"/>
            <a:ext cx="15790144" cy="2028825"/>
          </a:xfrm>
          <a:prstGeom prst="rect">
            <a:avLst/>
          </a:prstGeom>
        </p:spPr>
        <p:txBody>
          <a:bodyPr anchor="t" rtlCol="false" tIns="0" lIns="0" bIns="0" rIns="0">
            <a:spAutoFit/>
          </a:bodyPr>
          <a:lstStyle/>
          <a:p>
            <a:pPr algn="ctr">
              <a:lnSpc>
                <a:spcPts val="8021"/>
              </a:lnSpc>
              <a:spcBef>
                <a:spcPct val="0"/>
              </a:spcBef>
            </a:pPr>
            <a:r>
              <a:rPr lang="en-US" sz="6684">
                <a:solidFill>
                  <a:srgbClr val="3B6364"/>
                </a:solidFill>
                <a:latin typeface="Shrikhand"/>
                <a:ea typeface="Shrikhand"/>
                <a:cs typeface="Shrikhand"/>
                <a:sym typeface="Shrikhand"/>
              </a:rPr>
              <a:t>Advance Database Management System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false" flipV="false" rot="96536">
            <a:off x="519877" y="476734"/>
            <a:ext cx="9281122" cy="2969959"/>
          </a:xfrm>
          <a:custGeom>
            <a:avLst/>
            <a:gdLst/>
            <a:ahLst/>
            <a:cxnLst/>
            <a:rect r="r" b="b" t="t" l="l"/>
            <a:pathLst>
              <a:path h="2969959" w="9281122">
                <a:moveTo>
                  <a:pt x="0" y="0"/>
                </a:moveTo>
                <a:lnTo>
                  <a:pt x="9281122" y="0"/>
                </a:lnTo>
                <a:lnTo>
                  <a:pt x="9281122" y="2969959"/>
                </a:lnTo>
                <a:lnTo>
                  <a:pt x="0" y="29699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136070" y="2413766"/>
            <a:ext cx="2704795" cy="1249123"/>
          </a:xfrm>
          <a:custGeom>
            <a:avLst/>
            <a:gdLst/>
            <a:ahLst/>
            <a:cxnLst/>
            <a:rect r="r" b="b" t="t" l="l"/>
            <a:pathLst>
              <a:path h="1249123" w="2704795">
                <a:moveTo>
                  <a:pt x="0" y="0"/>
                </a:moveTo>
                <a:lnTo>
                  <a:pt x="2704794" y="0"/>
                </a:lnTo>
                <a:lnTo>
                  <a:pt x="2704794" y="1249124"/>
                </a:lnTo>
                <a:lnTo>
                  <a:pt x="0" y="12491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91967">
            <a:off x="-332190" y="7627"/>
            <a:ext cx="2241878" cy="2042147"/>
          </a:xfrm>
          <a:custGeom>
            <a:avLst/>
            <a:gdLst/>
            <a:ahLst/>
            <a:cxnLst/>
            <a:rect r="r" b="b" t="t" l="l"/>
            <a:pathLst>
              <a:path h="2042147" w="2241878">
                <a:moveTo>
                  <a:pt x="0" y="0"/>
                </a:moveTo>
                <a:lnTo>
                  <a:pt x="2241878" y="0"/>
                </a:lnTo>
                <a:lnTo>
                  <a:pt x="2241878" y="2042146"/>
                </a:lnTo>
                <a:lnTo>
                  <a:pt x="0" y="20421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4151070">
            <a:off x="673748" y="1883330"/>
            <a:ext cx="3895386" cy="4128059"/>
          </a:xfrm>
          <a:custGeom>
            <a:avLst/>
            <a:gdLst/>
            <a:ahLst/>
            <a:cxnLst/>
            <a:rect r="r" b="b" t="t" l="l"/>
            <a:pathLst>
              <a:path h="4128059" w="3895386">
                <a:moveTo>
                  <a:pt x="0" y="4128059"/>
                </a:moveTo>
                <a:lnTo>
                  <a:pt x="3895386" y="4128059"/>
                </a:lnTo>
                <a:lnTo>
                  <a:pt x="3895386" y="0"/>
                </a:lnTo>
                <a:lnTo>
                  <a:pt x="0" y="0"/>
                </a:lnTo>
                <a:lnTo>
                  <a:pt x="0" y="4128059"/>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1568932">
            <a:off x="15725241" y="2538573"/>
            <a:ext cx="1447775" cy="2075662"/>
          </a:xfrm>
          <a:custGeom>
            <a:avLst/>
            <a:gdLst/>
            <a:ahLst/>
            <a:cxnLst/>
            <a:rect r="r" b="b" t="t" l="l"/>
            <a:pathLst>
              <a:path h="2075662" w="1447775">
                <a:moveTo>
                  <a:pt x="0" y="0"/>
                </a:moveTo>
                <a:lnTo>
                  <a:pt x="1447774" y="0"/>
                </a:lnTo>
                <a:lnTo>
                  <a:pt x="1447774" y="2075662"/>
                </a:lnTo>
                <a:lnTo>
                  <a:pt x="0" y="207566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0538197" y="0"/>
            <a:ext cx="10083238" cy="1393320"/>
          </a:xfrm>
          <a:custGeom>
            <a:avLst/>
            <a:gdLst/>
            <a:ahLst/>
            <a:cxnLst/>
            <a:rect r="r" b="b" t="t" l="l"/>
            <a:pathLst>
              <a:path h="1393320" w="10083238">
                <a:moveTo>
                  <a:pt x="0" y="0"/>
                </a:moveTo>
                <a:lnTo>
                  <a:pt x="10083238" y="0"/>
                </a:lnTo>
                <a:lnTo>
                  <a:pt x="10083238" y="1393320"/>
                </a:lnTo>
                <a:lnTo>
                  <a:pt x="0" y="13933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10800000">
            <a:off x="-4098675" y="8905418"/>
            <a:ext cx="9279203" cy="2078243"/>
          </a:xfrm>
          <a:custGeom>
            <a:avLst/>
            <a:gdLst/>
            <a:ahLst/>
            <a:cxnLst/>
            <a:rect r="r" b="b" t="t" l="l"/>
            <a:pathLst>
              <a:path h="2078243" w="9279203">
                <a:moveTo>
                  <a:pt x="0" y="0"/>
                </a:moveTo>
                <a:lnTo>
                  <a:pt x="9279203" y="0"/>
                </a:lnTo>
                <a:lnTo>
                  <a:pt x="9279203" y="2078242"/>
                </a:lnTo>
                <a:lnTo>
                  <a:pt x="0" y="2078242"/>
                </a:lnTo>
                <a:lnTo>
                  <a:pt x="0" y="0"/>
                </a:lnTo>
                <a:close/>
              </a:path>
            </a:pathLst>
          </a:custGeom>
          <a:blipFill>
            <a:blip r:embed="rId12">
              <a:extLst>
                <a:ext uri="{96DAC541-7B7A-43D3-8B79-37D633B846F1}">
                  <asvg:svgBlip xmlns:asvg="http://schemas.microsoft.com/office/drawing/2016/SVG/main" r:embed="rId13"/>
                </a:ext>
              </a:extLst>
            </a:blip>
            <a:stretch>
              <a:fillRect l="-62081" t="0" r="0" b="0"/>
            </a:stretch>
          </a:blipFill>
        </p:spPr>
      </p:sp>
      <p:sp>
        <p:nvSpPr>
          <p:cNvPr name="TextBox 9" id="9"/>
          <p:cNvSpPr txBox="true"/>
          <p:nvPr/>
        </p:nvSpPr>
        <p:spPr>
          <a:xfrm rot="0">
            <a:off x="1028700" y="5236121"/>
            <a:ext cx="16746318" cy="2485729"/>
          </a:xfrm>
          <a:prstGeom prst="rect">
            <a:avLst/>
          </a:prstGeom>
        </p:spPr>
        <p:txBody>
          <a:bodyPr anchor="t" rtlCol="false" tIns="0" lIns="0" bIns="0" rIns="0">
            <a:spAutoFit/>
          </a:bodyPr>
          <a:lstStyle/>
          <a:p>
            <a:pPr algn="ctr">
              <a:lnSpc>
                <a:spcPts val="9991"/>
              </a:lnSpc>
            </a:pPr>
            <a:r>
              <a:rPr lang="en-US" sz="7136">
                <a:solidFill>
                  <a:srgbClr val="EB04A3"/>
                </a:solidFill>
                <a:latin typeface="Shrikhand"/>
                <a:ea typeface="Shrikhand"/>
                <a:cs typeface="Shrikhand"/>
                <a:sym typeface="Shrikhand"/>
              </a:rPr>
              <a:t>Pizza Ordering and Management System using PHP &amp; MySQL</a:t>
            </a:r>
          </a:p>
        </p:txBody>
      </p:sp>
      <p:sp>
        <p:nvSpPr>
          <p:cNvPr name="TextBox 10" id="10"/>
          <p:cNvSpPr txBox="true"/>
          <p:nvPr/>
        </p:nvSpPr>
        <p:spPr>
          <a:xfrm rot="0">
            <a:off x="278783" y="895350"/>
            <a:ext cx="9360853" cy="2344421"/>
          </a:xfrm>
          <a:prstGeom prst="rect">
            <a:avLst/>
          </a:prstGeom>
        </p:spPr>
        <p:txBody>
          <a:bodyPr anchor="t" rtlCol="false" tIns="0" lIns="0" bIns="0" rIns="0">
            <a:spAutoFit/>
          </a:bodyPr>
          <a:lstStyle/>
          <a:p>
            <a:pPr algn="ctr">
              <a:lnSpc>
                <a:spcPts val="9379"/>
              </a:lnSpc>
            </a:pPr>
            <a:r>
              <a:rPr lang="en-US" sz="6699">
                <a:solidFill>
                  <a:srgbClr val="0F2F76"/>
                </a:solidFill>
                <a:latin typeface="Shrikhand"/>
                <a:ea typeface="Shrikhand"/>
                <a:cs typeface="Shrikhand"/>
                <a:sym typeface="Shrikhand"/>
              </a:rPr>
              <a:t>PRESENTATION TITLE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false" flipV="false" rot="0">
            <a:off x="7051433" y="-68578"/>
            <a:ext cx="10083238" cy="1393320"/>
          </a:xfrm>
          <a:custGeom>
            <a:avLst/>
            <a:gdLst/>
            <a:ahLst/>
            <a:cxnLst/>
            <a:rect r="r" b="b" t="t" l="l"/>
            <a:pathLst>
              <a:path h="1393320" w="10083238">
                <a:moveTo>
                  <a:pt x="0" y="0"/>
                </a:moveTo>
                <a:lnTo>
                  <a:pt x="10083238" y="0"/>
                </a:lnTo>
                <a:lnTo>
                  <a:pt x="10083238" y="1393320"/>
                </a:lnTo>
                <a:lnTo>
                  <a:pt x="0" y="13933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4098675" y="8905418"/>
            <a:ext cx="9279203" cy="2078243"/>
          </a:xfrm>
          <a:custGeom>
            <a:avLst/>
            <a:gdLst/>
            <a:ahLst/>
            <a:cxnLst/>
            <a:rect r="r" b="b" t="t" l="l"/>
            <a:pathLst>
              <a:path h="2078243" w="9279203">
                <a:moveTo>
                  <a:pt x="0" y="0"/>
                </a:moveTo>
                <a:lnTo>
                  <a:pt x="9279203" y="0"/>
                </a:lnTo>
                <a:lnTo>
                  <a:pt x="9279203" y="2078242"/>
                </a:lnTo>
                <a:lnTo>
                  <a:pt x="0" y="2078242"/>
                </a:lnTo>
                <a:lnTo>
                  <a:pt x="0" y="0"/>
                </a:lnTo>
                <a:close/>
              </a:path>
            </a:pathLst>
          </a:custGeom>
          <a:blipFill>
            <a:blip r:embed="rId2">
              <a:extLst>
                <a:ext uri="{96DAC541-7B7A-43D3-8B79-37D633B846F1}">
                  <asvg:svgBlip xmlns:asvg="http://schemas.microsoft.com/office/drawing/2016/SVG/main" r:embed="rId3"/>
                </a:ext>
              </a:extLst>
            </a:blip>
            <a:stretch>
              <a:fillRect l="-62081" t="0" r="0" b="0"/>
            </a:stretch>
          </a:blipFill>
        </p:spPr>
      </p:sp>
      <p:sp>
        <p:nvSpPr>
          <p:cNvPr name="Freeform 4" id="4"/>
          <p:cNvSpPr/>
          <p:nvPr/>
        </p:nvSpPr>
        <p:spPr>
          <a:xfrm flipH="false" flipV="false" rot="-1568932">
            <a:off x="1485922" y="1536885"/>
            <a:ext cx="1443297" cy="2069242"/>
          </a:xfrm>
          <a:custGeom>
            <a:avLst/>
            <a:gdLst/>
            <a:ahLst/>
            <a:cxnLst/>
            <a:rect r="r" b="b" t="t" l="l"/>
            <a:pathLst>
              <a:path h="2069242" w="1443297">
                <a:moveTo>
                  <a:pt x="0" y="0"/>
                </a:moveTo>
                <a:lnTo>
                  <a:pt x="1443297" y="0"/>
                </a:lnTo>
                <a:lnTo>
                  <a:pt x="1443297" y="2069242"/>
                </a:lnTo>
                <a:lnTo>
                  <a:pt x="0" y="20692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151192" y="6856667"/>
            <a:ext cx="3539744" cy="3430333"/>
          </a:xfrm>
          <a:custGeom>
            <a:avLst/>
            <a:gdLst/>
            <a:ahLst/>
            <a:cxnLst/>
            <a:rect r="r" b="b" t="t" l="l"/>
            <a:pathLst>
              <a:path h="3430333" w="3539744">
                <a:moveTo>
                  <a:pt x="0" y="0"/>
                </a:moveTo>
                <a:lnTo>
                  <a:pt x="3539743" y="0"/>
                </a:lnTo>
                <a:lnTo>
                  <a:pt x="3539743" y="3430333"/>
                </a:lnTo>
                <a:lnTo>
                  <a:pt x="0" y="34303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40727">
            <a:off x="3193661" y="857481"/>
            <a:ext cx="1162426" cy="1666560"/>
          </a:xfrm>
          <a:custGeom>
            <a:avLst/>
            <a:gdLst/>
            <a:ahLst/>
            <a:cxnLst/>
            <a:rect r="r" b="b" t="t" l="l"/>
            <a:pathLst>
              <a:path h="1666560" w="1162426">
                <a:moveTo>
                  <a:pt x="0" y="0"/>
                </a:moveTo>
                <a:lnTo>
                  <a:pt x="1162426" y="0"/>
                </a:lnTo>
                <a:lnTo>
                  <a:pt x="1162426" y="1666560"/>
                </a:lnTo>
                <a:lnTo>
                  <a:pt x="0" y="16665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2739580" y="4035860"/>
            <a:ext cx="2380177" cy="2485192"/>
            <a:chOff x="0" y="0"/>
            <a:chExt cx="812800" cy="848661"/>
          </a:xfrm>
        </p:grpSpPr>
        <p:sp>
          <p:nvSpPr>
            <p:cNvPr name="Freeform 8" id="8"/>
            <p:cNvSpPr/>
            <p:nvPr/>
          </p:nvSpPr>
          <p:spPr>
            <a:xfrm flipH="false" flipV="false" rot="0">
              <a:off x="0" y="0"/>
              <a:ext cx="812800" cy="848661"/>
            </a:xfrm>
            <a:custGeom>
              <a:avLst/>
              <a:gdLst/>
              <a:ahLst/>
              <a:cxnLst/>
              <a:rect r="r" b="b" t="t" l="l"/>
              <a:pathLst>
                <a:path h="848661" w="812800">
                  <a:moveTo>
                    <a:pt x="0" y="0"/>
                  </a:moveTo>
                  <a:lnTo>
                    <a:pt x="812800" y="0"/>
                  </a:lnTo>
                  <a:lnTo>
                    <a:pt x="812800" y="848661"/>
                  </a:lnTo>
                  <a:lnTo>
                    <a:pt x="0" y="848661"/>
                  </a:lnTo>
                  <a:close/>
                </a:path>
              </a:pathLst>
            </a:custGeom>
            <a:blipFill>
              <a:blip r:embed="rId8"/>
              <a:stretch>
                <a:fillRect l="0" t="-1079" r="0" b="-1079"/>
              </a:stretch>
            </a:blipFill>
          </p:spPr>
        </p:sp>
      </p:grpSp>
      <p:grpSp>
        <p:nvGrpSpPr>
          <p:cNvPr name="Group 9" id="9"/>
          <p:cNvGrpSpPr/>
          <p:nvPr/>
        </p:nvGrpSpPr>
        <p:grpSpPr>
          <a:xfrm rot="0">
            <a:off x="5889528" y="4013711"/>
            <a:ext cx="2323809" cy="2507341"/>
            <a:chOff x="0" y="0"/>
            <a:chExt cx="812800" cy="876994"/>
          </a:xfrm>
        </p:grpSpPr>
        <p:sp>
          <p:nvSpPr>
            <p:cNvPr name="Freeform 10" id="10"/>
            <p:cNvSpPr/>
            <p:nvPr/>
          </p:nvSpPr>
          <p:spPr>
            <a:xfrm flipH="false" flipV="false" rot="0">
              <a:off x="0" y="0"/>
              <a:ext cx="812800" cy="876994"/>
            </a:xfrm>
            <a:custGeom>
              <a:avLst/>
              <a:gdLst/>
              <a:ahLst/>
              <a:cxnLst/>
              <a:rect r="r" b="b" t="t" l="l"/>
              <a:pathLst>
                <a:path h="876994" w="812800">
                  <a:moveTo>
                    <a:pt x="0" y="0"/>
                  </a:moveTo>
                  <a:lnTo>
                    <a:pt x="812800" y="0"/>
                  </a:lnTo>
                  <a:lnTo>
                    <a:pt x="812800" y="876994"/>
                  </a:lnTo>
                  <a:lnTo>
                    <a:pt x="0" y="876994"/>
                  </a:lnTo>
                  <a:close/>
                </a:path>
              </a:pathLst>
            </a:custGeom>
            <a:blipFill>
              <a:blip r:embed="rId9"/>
              <a:stretch>
                <a:fillRect l="-172" t="0" r="-172" b="0"/>
              </a:stretch>
            </a:blipFill>
          </p:spPr>
        </p:sp>
      </p:grpSp>
      <p:sp>
        <p:nvSpPr>
          <p:cNvPr name="Freeform 11" id="11"/>
          <p:cNvSpPr/>
          <p:nvPr/>
        </p:nvSpPr>
        <p:spPr>
          <a:xfrm flipH="false" flipV="false" rot="0">
            <a:off x="9006811" y="3982295"/>
            <a:ext cx="2466271" cy="2447774"/>
          </a:xfrm>
          <a:custGeom>
            <a:avLst/>
            <a:gdLst/>
            <a:ahLst/>
            <a:cxnLst/>
            <a:rect r="r" b="b" t="t" l="l"/>
            <a:pathLst>
              <a:path h="2447774" w="2466271">
                <a:moveTo>
                  <a:pt x="0" y="0"/>
                </a:moveTo>
                <a:lnTo>
                  <a:pt x="2466271" y="0"/>
                </a:lnTo>
                <a:lnTo>
                  <a:pt x="2466271" y="2447774"/>
                </a:lnTo>
                <a:lnTo>
                  <a:pt x="0" y="2447774"/>
                </a:lnTo>
                <a:lnTo>
                  <a:pt x="0" y="0"/>
                </a:lnTo>
                <a:close/>
              </a:path>
            </a:pathLst>
          </a:custGeom>
          <a:blipFill>
            <a:blip r:embed="rId10"/>
            <a:stretch>
              <a:fillRect l="0" t="0" r="0" b="0"/>
            </a:stretch>
          </a:blipFill>
        </p:spPr>
      </p:sp>
      <p:sp>
        <p:nvSpPr>
          <p:cNvPr name="Freeform 12" id="12"/>
          <p:cNvSpPr/>
          <p:nvPr/>
        </p:nvSpPr>
        <p:spPr>
          <a:xfrm flipH="false" flipV="false" rot="0">
            <a:off x="12215137" y="3758859"/>
            <a:ext cx="1845829" cy="2671209"/>
          </a:xfrm>
          <a:custGeom>
            <a:avLst/>
            <a:gdLst/>
            <a:ahLst/>
            <a:cxnLst/>
            <a:rect r="r" b="b" t="t" l="l"/>
            <a:pathLst>
              <a:path h="2671209" w="1845829">
                <a:moveTo>
                  <a:pt x="0" y="0"/>
                </a:moveTo>
                <a:lnTo>
                  <a:pt x="1845828" y="0"/>
                </a:lnTo>
                <a:lnTo>
                  <a:pt x="1845828" y="2671210"/>
                </a:lnTo>
                <a:lnTo>
                  <a:pt x="0" y="2671210"/>
                </a:lnTo>
                <a:lnTo>
                  <a:pt x="0" y="0"/>
                </a:lnTo>
                <a:close/>
              </a:path>
            </a:pathLst>
          </a:custGeom>
          <a:blipFill>
            <a:blip r:embed="rId11"/>
            <a:stretch>
              <a:fillRect l="0" t="-2314" r="0" b="-45494"/>
            </a:stretch>
          </a:blipFill>
        </p:spPr>
      </p:sp>
      <p:sp>
        <p:nvSpPr>
          <p:cNvPr name="TextBox 13" id="13"/>
          <p:cNvSpPr txBox="true"/>
          <p:nvPr/>
        </p:nvSpPr>
        <p:spPr>
          <a:xfrm rot="0">
            <a:off x="5407510" y="1816491"/>
            <a:ext cx="9867640" cy="1417952"/>
          </a:xfrm>
          <a:prstGeom prst="rect">
            <a:avLst/>
          </a:prstGeom>
        </p:spPr>
        <p:txBody>
          <a:bodyPr anchor="t" rtlCol="false" tIns="0" lIns="0" bIns="0" rIns="0">
            <a:spAutoFit/>
          </a:bodyPr>
          <a:lstStyle/>
          <a:p>
            <a:pPr algn="ctr">
              <a:lnSpc>
                <a:spcPts val="11620"/>
              </a:lnSpc>
              <a:spcBef>
                <a:spcPct val="0"/>
              </a:spcBef>
            </a:pPr>
            <a:r>
              <a:rPr lang="en-US" sz="8300">
                <a:solidFill>
                  <a:srgbClr val="000000"/>
                </a:solidFill>
                <a:latin typeface="Shrikhand"/>
                <a:ea typeface="Shrikhand"/>
                <a:cs typeface="Shrikhand"/>
                <a:sym typeface="Shrikhand"/>
              </a:rPr>
              <a:t>Group Members</a:t>
            </a:r>
          </a:p>
        </p:txBody>
      </p:sp>
      <p:sp>
        <p:nvSpPr>
          <p:cNvPr name="TextBox 14" id="14"/>
          <p:cNvSpPr txBox="true"/>
          <p:nvPr/>
        </p:nvSpPr>
        <p:spPr>
          <a:xfrm rot="0">
            <a:off x="5480909" y="6473245"/>
            <a:ext cx="3700209" cy="591687"/>
          </a:xfrm>
          <a:prstGeom prst="rect">
            <a:avLst/>
          </a:prstGeom>
        </p:spPr>
        <p:txBody>
          <a:bodyPr anchor="t" rtlCol="false" tIns="0" lIns="0" bIns="0" rIns="0">
            <a:spAutoFit/>
          </a:bodyPr>
          <a:lstStyle/>
          <a:p>
            <a:pPr algn="ctr">
              <a:lnSpc>
                <a:spcPts val="4808"/>
              </a:lnSpc>
              <a:spcBef>
                <a:spcPct val="0"/>
              </a:spcBef>
            </a:pPr>
            <a:r>
              <a:rPr lang="en-US" sz="3434">
                <a:solidFill>
                  <a:srgbClr val="000000"/>
                </a:solidFill>
                <a:latin typeface="Krabuler"/>
                <a:ea typeface="Krabuler"/>
                <a:cs typeface="Krabuler"/>
                <a:sym typeface="Krabuler"/>
              </a:rPr>
              <a:t>Sumaira Yasmeen</a:t>
            </a:r>
          </a:p>
        </p:txBody>
      </p:sp>
      <p:sp>
        <p:nvSpPr>
          <p:cNvPr name="TextBox 15" id="15"/>
          <p:cNvSpPr txBox="true"/>
          <p:nvPr/>
        </p:nvSpPr>
        <p:spPr>
          <a:xfrm rot="0">
            <a:off x="5640243" y="7044570"/>
            <a:ext cx="3425147" cy="461595"/>
          </a:xfrm>
          <a:prstGeom prst="rect">
            <a:avLst/>
          </a:prstGeom>
        </p:spPr>
        <p:txBody>
          <a:bodyPr anchor="t" rtlCol="false" tIns="0" lIns="0" bIns="0" rIns="0">
            <a:spAutoFit/>
          </a:bodyPr>
          <a:lstStyle/>
          <a:p>
            <a:pPr algn="ctr">
              <a:lnSpc>
                <a:spcPts val="3764"/>
              </a:lnSpc>
              <a:spcBef>
                <a:spcPct val="0"/>
              </a:spcBef>
            </a:pPr>
            <a:r>
              <a:rPr lang="en-US" sz="2688" i="true" spc="96">
                <a:solidFill>
                  <a:srgbClr val="000000"/>
                </a:solidFill>
                <a:latin typeface="Krabuler"/>
                <a:ea typeface="Krabuler"/>
                <a:cs typeface="Krabuler"/>
                <a:sym typeface="Krabuler"/>
              </a:rPr>
              <a:t>2023- Bcs-086</a:t>
            </a:r>
          </a:p>
        </p:txBody>
      </p:sp>
      <p:sp>
        <p:nvSpPr>
          <p:cNvPr name="TextBox 16" id="16"/>
          <p:cNvSpPr txBox="true"/>
          <p:nvPr/>
        </p:nvSpPr>
        <p:spPr>
          <a:xfrm rot="0">
            <a:off x="2207570" y="7015995"/>
            <a:ext cx="3425147" cy="461595"/>
          </a:xfrm>
          <a:prstGeom prst="rect">
            <a:avLst/>
          </a:prstGeom>
        </p:spPr>
        <p:txBody>
          <a:bodyPr anchor="t" rtlCol="false" tIns="0" lIns="0" bIns="0" rIns="0">
            <a:spAutoFit/>
          </a:bodyPr>
          <a:lstStyle/>
          <a:p>
            <a:pPr algn="ctr">
              <a:lnSpc>
                <a:spcPts val="3764"/>
              </a:lnSpc>
              <a:spcBef>
                <a:spcPct val="0"/>
              </a:spcBef>
            </a:pPr>
            <a:r>
              <a:rPr lang="en-US" sz="2688" i="true" spc="96">
                <a:solidFill>
                  <a:srgbClr val="000000"/>
                </a:solidFill>
                <a:latin typeface="Krabuler"/>
                <a:ea typeface="Krabuler"/>
                <a:cs typeface="Krabuler"/>
                <a:sym typeface="Krabuler"/>
              </a:rPr>
              <a:t>2023- Bcs-002</a:t>
            </a:r>
          </a:p>
        </p:txBody>
      </p:sp>
      <p:sp>
        <p:nvSpPr>
          <p:cNvPr name="TextBox 17" id="17"/>
          <p:cNvSpPr txBox="true"/>
          <p:nvPr/>
        </p:nvSpPr>
        <p:spPr>
          <a:xfrm rot="0">
            <a:off x="1945092" y="6444852"/>
            <a:ext cx="3950104" cy="628293"/>
          </a:xfrm>
          <a:prstGeom prst="rect">
            <a:avLst/>
          </a:prstGeom>
        </p:spPr>
        <p:txBody>
          <a:bodyPr anchor="t" rtlCol="false" tIns="0" lIns="0" bIns="0" rIns="0">
            <a:spAutoFit/>
          </a:bodyPr>
          <a:lstStyle/>
          <a:p>
            <a:pPr algn="ctr">
              <a:lnSpc>
                <a:spcPts val="5149"/>
              </a:lnSpc>
              <a:spcBef>
                <a:spcPct val="0"/>
              </a:spcBef>
            </a:pPr>
            <a:r>
              <a:rPr lang="en-US" sz="3677">
                <a:solidFill>
                  <a:srgbClr val="000000"/>
                </a:solidFill>
                <a:latin typeface="Krabuler"/>
                <a:ea typeface="Krabuler"/>
                <a:cs typeface="Krabuler"/>
                <a:sym typeface="Krabuler"/>
              </a:rPr>
              <a:t>Aimen Hussain</a:t>
            </a:r>
          </a:p>
        </p:txBody>
      </p:sp>
      <p:sp>
        <p:nvSpPr>
          <p:cNvPr name="TextBox 18" id="18"/>
          <p:cNvSpPr txBox="true"/>
          <p:nvPr/>
        </p:nvSpPr>
        <p:spPr>
          <a:xfrm rot="0">
            <a:off x="8592778" y="6432727"/>
            <a:ext cx="3622359" cy="1044863"/>
          </a:xfrm>
          <a:prstGeom prst="rect">
            <a:avLst/>
          </a:prstGeom>
        </p:spPr>
        <p:txBody>
          <a:bodyPr anchor="t" rtlCol="false" tIns="0" lIns="0" bIns="0" rIns="0">
            <a:spAutoFit/>
          </a:bodyPr>
          <a:lstStyle/>
          <a:p>
            <a:pPr algn="ctr">
              <a:lnSpc>
                <a:spcPts val="4247"/>
              </a:lnSpc>
            </a:pPr>
            <a:r>
              <a:rPr lang="en-US" sz="3033">
                <a:solidFill>
                  <a:srgbClr val="000000"/>
                </a:solidFill>
                <a:latin typeface="Krabuler"/>
                <a:ea typeface="Krabuler"/>
                <a:cs typeface="Krabuler"/>
                <a:sym typeface="Krabuler"/>
              </a:rPr>
              <a:t>Sania Arshad</a:t>
            </a:r>
          </a:p>
          <a:p>
            <a:pPr algn="ctr">
              <a:lnSpc>
                <a:spcPts val="4247"/>
              </a:lnSpc>
              <a:spcBef>
                <a:spcPct val="0"/>
              </a:spcBef>
            </a:pPr>
            <a:r>
              <a:rPr lang="en-US" sz="3033">
                <a:solidFill>
                  <a:srgbClr val="000000"/>
                </a:solidFill>
                <a:latin typeface="Krabuler"/>
                <a:ea typeface="Krabuler"/>
                <a:cs typeface="Krabuler"/>
                <a:sym typeface="Krabuler"/>
              </a:rPr>
              <a:t>2023-Bcs-098</a:t>
            </a:r>
          </a:p>
        </p:txBody>
      </p:sp>
      <p:sp>
        <p:nvSpPr>
          <p:cNvPr name="TextBox 19" id="19"/>
          <p:cNvSpPr txBox="true"/>
          <p:nvPr/>
        </p:nvSpPr>
        <p:spPr>
          <a:xfrm rot="0">
            <a:off x="11652792" y="6461302"/>
            <a:ext cx="3622359" cy="1044863"/>
          </a:xfrm>
          <a:prstGeom prst="rect">
            <a:avLst/>
          </a:prstGeom>
        </p:spPr>
        <p:txBody>
          <a:bodyPr anchor="t" rtlCol="false" tIns="0" lIns="0" bIns="0" rIns="0">
            <a:spAutoFit/>
          </a:bodyPr>
          <a:lstStyle/>
          <a:p>
            <a:pPr algn="ctr">
              <a:lnSpc>
                <a:spcPts val="4247"/>
              </a:lnSpc>
            </a:pPr>
            <a:r>
              <a:rPr lang="en-US" sz="3033">
                <a:solidFill>
                  <a:srgbClr val="000000"/>
                </a:solidFill>
                <a:latin typeface="Krabuler"/>
                <a:ea typeface="Krabuler"/>
                <a:cs typeface="Krabuler"/>
                <a:sym typeface="Krabuler"/>
              </a:rPr>
              <a:t>Eman Waheed</a:t>
            </a:r>
          </a:p>
          <a:p>
            <a:pPr algn="ctr">
              <a:lnSpc>
                <a:spcPts val="4247"/>
              </a:lnSpc>
              <a:spcBef>
                <a:spcPct val="0"/>
              </a:spcBef>
            </a:pPr>
            <a:r>
              <a:rPr lang="en-US" sz="3033">
                <a:solidFill>
                  <a:srgbClr val="000000"/>
                </a:solidFill>
                <a:latin typeface="Krabuler"/>
                <a:ea typeface="Krabuler"/>
                <a:cs typeface="Krabuler"/>
                <a:sym typeface="Krabuler"/>
              </a:rPr>
              <a:t>2023-Bcs-027</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false" flipV="false" rot="0">
            <a:off x="9906709" y="7627174"/>
            <a:ext cx="5097269" cy="1631126"/>
          </a:xfrm>
          <a:custGeom>
            <a:avLst/>
            <a:gdLst/>
            <a:ahLst/>
            <a:cxnLst/>
            <a:rect r="r" b="b" t="t" l="l"/>
            <a:pathLst>
              <a:path h="1631126" w="5097269">
                <a:moveTo>
                  <a:pt x="0" y="0"/>
                </a:moveTo>
                <a:lnTo>
                  <a:pt x="5097268" y="0"/>
                </a:lnTo>
                <a:lnTo>
                  <a:pt x="5097268" y="1631126"/>
                </a:lnTo>
                <a:lnTo>
                  <a:pt x="0" y="16311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982306" y="2179532"/>
            <a:ext cx="5276994" cy="4960375"/>
          </a:xfrm>
          <a:custGeom>
            <a:avLst/>
            <a:gdLst/>
            <a:ahLst/>
            <a:cxnLst/>
            <a:rect r="r" b="b" t="t" l="l"/>
            <a:pathLst>
              <a:path h="4960375" w="5276994">
                <a:moveTo>
                  <a:pt x="0" y="0"/>
                </a:moveTo>
                <a:lnTo>
                  <a:pt x="5276994" y="0"/>
                </a:lnTo>
                <a:lnTo>
                  <a:pt x="5276994" y="4960375"/>
                </a:lnTo>
                <a:lnTo>
                  <a:pt x="0" y="49603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028700" y="2703216"/>
            <a:ext cx="9775026" cy="2220699"/>
            <a:chOff x="0" y="0"/>
            <a:chExt cx="13033369" cy="2960931"/>
          </a:xfrm>
        </p:grpSpPr>
        <p:sp>
          <p:nvSpPr>
            <p:cNvPr name="TextBox 5" id="5"/>
            <p:cNvSpPr txBox="true"/>
            <p:nvPr/>
          </p:nvSpPr>
          <p:spPr>
            <a:xfrm rot="0">
              <a:off x="0" y="1255234"/>
              <a:ext cx="13033369" cy="1705698"/>
            </a:xfrm>
            <a:prstGeom prst="rect">
              <a:avLst/>
            </a:prstGeom>
          </p:spPr>
          <p:txBody>
            <a:bodyPr anchor="t" rtlCol="false" tIns="0" lIns="0" bIns="0" rIns="0">
              <a:spAutoFit/>
            </a:bodyPr>
            <a:lstStyle/>
            <a:p>
              <a:pPr algn="ctr">
                <a:lnSpc>
                  <a:spcPts val="8253"/>
                </a:lnSpc>
              </a:pPr>
              <a:r>
                <a:rPr lang="en-US" sz="10316" spc="-103">
                  <a:solidFill>
                    <a:srgbClr val="428CE2"/>
                  </a:solidFill>
                  <a:latin typeface="Shrikhand"/>
                  <a:ea typeface="Shrikhand"/>
                  <a:cs typeface="Shrikhand"/>
                  <a:sym typeface="Shrikhand"/>
                </a:rPr>
                <a:t>LET’S DIVE IN</a:t>
              </a:r>
            </a:p>
          </p:txBody>
        </p:sp>
        <p:sp>
          <p:nvSpPr>
            <p:cNvPr name="TextBox 6" id="6"/>
            <p:cNvSpPr txBox="true"/>
            <p:nvPr/>
          </p:nvSpPr>
          <p:spPr>
            <a:xfrm rot="0">
              <a:off x="0" y="95250"/>
              <a:ext cx="13033369" cy="878147"/>
            </a:xfrm>
            <a:prstGeom prst="rect">
              <a:avLst/>
            </a:prstGeom>
          </p:spPr>
          <p:txBody>
            <a:bodyPr anchor="t" rtlCol="false" tIns="0" lIns="0" bIns="0" rIns="0">
              <a:spAutoFit/>
            </a:bodyPr>
            <a:lstStyle/>
            <a:p>
              <a:pPr algn="ctr">
                <a:lnSpc>
                  <a:spcPts val="4806"/>
                </a:lnSpc>
              </a:pPr>
              <a:r>
                <a:rPr lang="en-US" sz="4806">
                  <a:solidFill>
                    <a:srgbClr val="0F2F76"/>
                  </a:solidFill>
                  <a:latin typeface="Montserrat"/>
                  <a:ea typeface="Montserrat"/>
                  <a:cs typeface="Montserrat"/>
                  <a:sym typeface="Montserrat"/>
                </a:rPr>
                <a:t>ALRIGHT</a:t>
              </a:r>
            </a:p>
          </p:txBody>
        </p:sp>
      </p:grpSp>
      <p:sp>
        <p:nvSpPr>
          <p:cNvPr name="Freeform 7" id="7"/>
          <p:cNvSpPr/>
          <p:nvPr/>
        </p:nvSpPr>
        <p:spPr>
          <a:xfrm flipH="false" flipV="true" rot="4120163">
            <a:off x="-119786" y="-860886"/>
            <a:ext cx="3566164" cy="3779172"/>
          </a:xfrm>
          <a:custGeom>
            <a:avLst/>
            <a:gdLst/>
            <a:ahLst/>
            <a:cxnLst/>
            <a:rect r="r" b="b" t="t" l="l"/>
            <a:pathLst>
              <a:path h="3779172" w="3566164">
                <a:moveTo>
                  <a:pt x="0" y="3779172"/>
                </a:moveTo>
                <a:lnTo>
                  <a:pt x="3566165" y="3779172"/>
                </a:lnTo>
                <a:lnTo>
                  <a:pt x="3566165" y="0"/>
                </a:lnTo>
                <a:lnTo>
                  <a:pt x="0" y="0"/>
                </a:lnTo>
                <a:lnTo>
                  <a:pt x="0" y="377917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1568932">
            <a:off x="15754938" y="7352049"/>
            <a:ext cx="1443297" cy="2069242"/>
          </a:xfrm>
          <a:custGeom>
            <a:avLst/>
            <a:gdLst/>
            <a:ahLst/>
            <a:cxnLst/>
            <a:rect r="r" b="b" t="t" l="l"/>
            <a:pathLst>
              <a:path h="2069242" w="1443297">
                <a:moveTo>
                  <a:pt x="0" y="0"/>
                </a:moveTo>
                <a:lnTo>
                  <a:pt x="1443297" y="0"/>
                </a:lnTo>
                <a:lnTo>
                  <a:pt x="1443297" y="2069243"/>
                </a:lnTo>
                <a:lnTo>
                  <a:pt x="0" y="206924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7739904" y="-42912"/>
            <a:ext cx="12710840" cy="1756407"/>
          </a:xfrm>
          <a:custGeom>
            <a:avLst/>
            <a:gdLst/>
            <a:ahLst/>
            <a:cxnLst/>
            <a:rect r="r" b="b" t="t" l="l"/>
            <a:pathLst>
              <a:path h="1756407" w="12710840">
                <a:moveTo>
                  <a:pt x="0" y="0"/>
                </a:moveTo>
                <a:lnTo>
                  <a:pt x="12710840" y="0"/>
                </a:lnTo>
                <a:lnTo>
                  <a:pt x="12710840" y="1756407"/>
                </a:lnTo>
                <a:lnTo>
                  <a:pt x="0" y="175640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0800000">
            <a:off x="-5599813" y="8633321"/>
            <a:ext cx="13959219" cy="1928910"/>
          </a:xfrm>
          <a:custGeom>
            <a:avLst/>
            <a:gdLst/>
            <a:ahLst/>
            <a:cxnLst/>
            <a:rect r="r" b="b" t="t" l="l"/>
            <a:pathLst>
              <a:path h="1928910" w="13959219">
                <a:moveTo>
                  <a:pt x="0" y="0"/>
                </a:moveTo>
                <a:lnTo>
                  <a:pt x="13959219" y="0"/>
                </a:lnTo>
                <a:lnTo>
                  <a:pt x="13959219" y="1928910"/>
                </a:lnTo>
                <a:lnTo>
                  <a:pt x="0" y="192891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648665">
            <a:off x="-476656" y="5677198"/>
            <a:ext cx="9097381" cy="4281121"/>
          </a:xfrm>
          <a:custGeom>
            <a:avLst/>
            <a:gdLst/>
            <a:ahLst/>
            <a:cxnLst/>
            <a:rect r="r" b="b" t="t" l="l"/>
            <a:pathLst>
              <a:path h="4281121" w="9097381">
                <a:moveTo>
                  <a:pt x="0" y="0"/>
                </a:moveTo>
                <a:lnTo>
                  <a:pt x="9097381" y="0"/>
                </a:lnTo>
                <a:lnTo>
                  <a:pt x="9097381" y="4281120"/>
                </a:lnTo>
                <a:lnTo>
                  <a:pt x="0" y="42811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2344807">
            <a:off x="8226491" y="7462874"/>
            <a:ext cx="1514128" cy="1379233"/>
          </a:xfrm>
          <a:custGeom>
            <a:avLst/>
            <a:gdLst/>
            <a:ahLst/>
            <a:cxnLst/>
            <a:rect r="r" b="b" t="t" l="l"/>
            <a:pathLst>
              <a:path h="1379233" w="1514128">
                <a:moveTo>
                  <a:pt x="0" y="0"/>
                </a:moveTo>
                <a:lnTo>
                  <a:pt x="1514128" y="0"/>
                </a:lnTo>
                <a:lnTo>
                  <a:pt x="1514128" y="1379233"/>
                </a:lnTo>
                <a:lnTo>
                  <a:pt x="0" y="137923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false" flipV="false" rot="0">
            <a:off x="9752595" y="-301411"/>
            <a:ext cx="12710840" cy="1756407"/>
          </a:xfrm>
          <a:custGeom>
            <a:avLst/>
            <a:gdLst/>
            <a:ahLst/>
            <a:cxnLst/>
            <a:rect r="r" b="b" t="t" l="l"/>
            <a:pathLst>
              <a:path h="1756407" w="12710840">
                <a:moveTo>
                  <a:pt x="0" y="0"/>
                </a:moveTo>
                <a:lnTo>
                  <a:pt x="12710840" y="0"/>
                </a:lnTo>
                <a:lnTo>
                  <a:pt x="12710840" y="1756407"/>
                </a:lnTo>
                <a:lnTo>
                  <a:pt x="0" y="17564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5599813" y="8633321"/>
            <a:ext cx="13959219" cy="1928910"/>
          </a:xfrm>
          <a:custGeom>
            <a:avLst/>
            <a:gdLst/>
            <a:ahLst/>
            <a:cxnLst/>
            <a:rect r="r" b="b" t="t" l="l"/>
            <a:pathLst>
              <a:path h="1928910" w="13959219">
                <a:moveTo>
                  <a:pt x="0" y="0"/>
                </a:moveTo>
                <a:lnTo>
                  <a:pt x="13959219" y="0"/>
                </a:lnTo>
                <a:lnTo>
                  <a:pt x="13959219" y="1928910"/>
                </a:lnTo>
                <a:lnTo>
                  <a:pt x="0" y="19289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993060" y="2876540"/>
            <a:ext cx="7147713" cy="3779353"/>
          </a:xfrm>
          <a:custGeom>
            <a:avLst/>
            <a:gdLst/>
            <a:ahLst/>
            <a:cxnLst/>
            <a:rect r="r" b="b" t="t" l="l"/>
            <a:pathLst>
              <a:path h="3779353" w="7147713">
                <a:moveTo>
                  <a:pt x="0" y="0"/>
                </a:moveTo>
                <a:lnTo>
                  <a:pt x="7147713" y="0"/>
                </a:lnTo>
                <a:lnTo>
                  <a:pt x="7147713" y="3779353"/>
                </a:lnTo>
                <a:lnTo>
                  <a:pt x="0" y="3779353"/>
                </a:lnTo>
                <a:lnTo>
                  <a:pt x="0" y="0"/>
                </a:lnTo>
                <a:close/>
              </a:path>
            </a:pathLst>
          </a:custGeom>
          <a:blipFill>
            <a:blip r:embed="rId6"/>
            <a:stretch>
              <a:fillRect l="0" t="0" r="0" b="0"/>
            </a:stretch>
          </a:blipFill>
        </p:spPr>
      </p:sp>
      <p:sp>
        <p:nvSpPr>
          <p:cNvPr name="Freeform 5" id="5"/>
          <p:cNvSpPr/>
          <p:nvPr/>
        </p:nvSpPr>
        <p:spPr>
          <a:xfrm flipH="false" flipV="false" rot="0">
            <a:off x="11568783" y="6903543"/>
            <a:ext cx="4885679" cy="3238249"/>
          </a:xfrm>
          <a:custGeom>
            <a:avLst/>
            <a:gdLst/>
            <a:ahLst/>
            <a:cxnLst/>
            <a:rect r="r" b="b" t="t" l="l"/>
            <a:pathLst>
              <a:path h="3238249" w="4885679">
                <a:moveTo>
                  <a:pt x="0" y="0"/>
                </a:moveTo>
                <a:lnTo>
                  <a:pt x="4885679" y="0"/>
                </a:lnTo>
                <a:lnTo>
                  <a:pt x="4885679" y="3238250"/>
                </a:lnTo>
                <a:lnTo>
                  <a:pt x="0" y="3238250"/>
                </a:lnTo>
                <a:lnTo>
                  <a:pt x="0" y="0"/>
                </a:lnTo>
                <a:close/>
              </a:path>
            </a:pathLst>
          </a:custGeom>
          <a:blipFill>
            <a:blip r:embed="rId7"/>
            <a:stretch>
              <a:fillRect l="0" t="-12440" r="-188866" b="-132710"/>
            </a:stretch>
          </a:blipFill>
        </p:spPr>
      </p:sp>
      <p:sp>
        <p:nvSpPr>
          <p:cNvPr name="TextBox 6" id="6"/>
          <p:cNvSpPr txBox="true"/>
          <p:nvPr/>
        </p:nvSpPr>
        <p:spPr>
          <a:xfrm rot="0">
            <a:off x="0" y="67915"/>
            <a:ext cx="9144000" cy="1220272"/>
          </a:xfrm>
          <a:prstGeom prst="rect">
            <a:avLst/>
          </a:prstGeom>
        </p:spPr>
        <p:txBody>
          <a:bodyPr anchor="t" rtlCol="false" tIns="0" lIns="0" bIns="0" rIns="0">
            <a:spAutoFit/>
          </a:bodyPr>
          <a:lstStyle/>
          <a:p>
            <a:pPr algn="ctr">
              <a:lnSpc>
                <a:spcPts val="9915"/>
              </a:lnSpc>
            </a:pPr>
            <a:r>
              <a:rPr lang="en-US" sz="7082">
                <a:solidFill>
                  <a:srgbClr val="74292B"/>
                </a:solidFill>
                <a:latin typeface="Shrikhand"/>
                <a:ea typeface="Shrikhand"/>
                <a:cs typeface="Shrikhand"/>
                <a:sym typeface="Shrikhand"/>
              </a:rPr>
              <a:t>Project Overview</a:t>
            </a:r>
          </a:p>
        </p:txBody>
      </p:sp>
      <p:sp>
        <p:nvSpPr>
          <p:cNvPr name="TextBox 7" id="7"/>
          <p:cNvSpPr txBox="true"/>
          <p:nvPr/>
        </p:nvSpPr>
        <p:spPr>
          <a:xfrm rot="0">
            <a:off x="361084" y="1446750"/>
            <a:ext cx="15901394" cy="1128637"/>
          </a:xfrm>
          <a:prstGeom prst="rect">
            <a:avLst/>
          </a:prstGeom>
        </p:spPr>
        <p:txBody>
          <a:bodyPr anchor="t" rtlCol="false" tIns="0" lIns="0" bIns="0" rIns="0">
            <a:spAutoFit/>
          </a:bodyPr>
          <a:lstStyle/>
          <a:p>
            <a:pPr algn="l">
              <a:lnSpc>
                <a:spcPts val="4339"/>
              </a:lnSpc>
            </a:pPr>
            <a:r>
              <a:rPr lang="en-US" sz="3099">
                <a:solidFill>
                  <a:srgbClr val="B26978"/>
                </a:solidFill>
                <a:latin typeface="Sree Krushnadevaraya"/>
                <a:ea typeface="Sree Krushnadevaraya"/>
                <a:cs typeface="Sree Krushnadevaraya"/>
                <a:sym typeface="Sree Krushnadevaraya"/>
              </a:rPr>
              <a:t>What is the system?</a:t>
            </a:r>
          </a:p>
          <a:p>
            <a:pPr algn="just">
              <a:lnSpc>
                <a:spcPts val="4800"/>
              </a:lnSpc>
            </a:pPr>
            <a:r>
              <a:rPr lang="en-US" sz="3429">
                <a:solidFill>
                  <a:srgbClr val="000000"/>
                </a:solidFill>
                <a:latin typeface="Sree Krushnadevaraya"/>
                <a:ea typeface="Sree Krushnadevaraya"/>
                <a:cs typeface="Sree Krushnadevaraya"/>
                <a:sym typeface="Sree Krushnadevaraya"/>
              </a:rPr>
              <a:t>An online platform for ordering pizzas, managing customer orders, feedback, and payments.</a:t>
            </a:r>
          </a:p>
        </p:txBody>
      </p:sp>
      <p:sp>
        <p:nvSpPr>
          <p:cNvPr name="TextBox 8" id="8"/>
          <p:cNvSpPr txBox="true"/>
          <p:nvPr/>
        </p:nvSpPr>
        <p:spPr>
          <a:xfrm rot="0">
            <a:off x="208998" y="2898313"/>
            <a:ext cx="9268944" cy="6062818"/>
          </a:xfrm>
          <a:prstGeom prst="rect">
            <a:avLst/>
          </a:prstGeom>
        </p:spPr>
        <p:txBody>
          <a:bodyPr anchor="t" rtlCol="false" tIns="0" lIns="0" bIns="0" rIns="0">
            <a:spAutoFit/>
          </a:bodyPr>
          <a:lstStyle/>
          <a:p>
            <a:pPr algn="just">
              <a:lnSpc>
                <a:spcPts val="4943"/>
              </a:lnSpc>
            </a:pPr>
            <a:r>
              <a:rPr lang="en-US" sz="3531">
                <a:solidFill>
                  <a:srgbClr val="39B54A"/>
                </a:solidFill>
                <a:latin typeface="Michegar"/>
                <a:ea typeface="Michegar"/>
                <a:cs typeface="Michegar"/>
                <a:sym typeface="Michegar"/>
              </a:rPr>
              <a:t>Introduction:</a:t>
            </a:r>
          </a:p>
          <a:p>
            <a:pPr algn="just">
              <a:lnSpc>
                <a:spcPts val="3963"/>
              </a:lnSpc>
            </a:pPr>
            <a:r>
              <a:rPr lang="en-US" sz="2831">
                <a:solidFill>
                  <a:srgbClr val="1F1347"/>
                </a:solidFill>
                <a:latin typeface="Sree Krushnadevaraya"/>
                <a:ea typeface="Sree Krushnadevaraya"/>
                <a:cs typeface="Sree Krushnadevaraya"/>
                <a:sym typeface="Sree Krushnadevaraya"/>
              </a:rPr>
              <a:t>This project is a web-based Pizza Ordering and Management System developed using PHP and MySQL. It is designed to streamline the process of ordering pizzas online while providing administrative control over menu management, orders, payments, and customer feedback.</a:t>
            </a:r>
          </a:p>
          <a:p>
            <a:pPr algn="just">
              <a:lnSpc>
                <a:spcPts val="3963"/>
              </a:lnSpc>
            </a:pPr>
            <a:r>
              <a:rPr lang="en-US" sz="2831">
                <a:solidFill>
                  <a:srgbClr val="1F1347"/>
                </a:solidFill>
                <a:latin typeface="Sree Krushnadevaraya"/>
                <a:ea typeface="Sree Krushnadevaraya"/>
                <a:cs typeface="Sree Krushnadevaraya"/>
                <a:sym typeface="Sree Krushnadevaraya"/>
              </a:rPr>
              <a:t>The system supports two types of users:</a:t>
            </a:r>
          </a:p>
          <a:p>
            <a:pPr algn="just" marL="611298" indent="-305649" lvl="1">
              <a:lnSpc>
                <a:spcPts val="3963"/>
              </a:lnSpc>
              <a:buFont typeface="Arial"/>
              <a:buChar char="•"/>
            </a:pPr>
            <a:r>
              <a:rPr lang="en-US" sz="2831">
                <a:solidFill>
                  <a:srgbClr val="537032"/>
                </a:solidFill>
                <a:latin typeface="Sree Krushnadevaraya"/>
                <a:ea typeface="Sree Krushnadevaraya"/>
                <a:cs typeface="Sree Krushnadevaraya"/>
                <a:sym typeface="Sree Krushnadevaraya"/>
              </a:rPr>
              <a:t>Client/User:</a:t>
            </a:r>
            <a:r>
              <a:rPr lang="en-US" sz="2831">
                <a:solidFill>
                  <a:srgbClr val="1F1347"/>
                </a:solidFill>
                <a:latin typeface="Sree Krushnadevaraya"/>
                <a:ea typeface="Sree Krushnadevaraya"/>
                <a:cs typeface="Sree Krushnadevaraya"/>
                <a:sym typeface="Sree Krushnadevaraya"/>
              </a:rPr>
              <a:t> Can register, log in, view the pizza menu, place orders, make payments, and submit feedback.</a:t>
            </a:r>
          </a:p>
          <a:p>
            <a:pPr algn="just" marL="611298" indent="-305649" lvl="1">
              <a:lnSpc>
                <a:spcPts val="3963"/>
              </a:lnSpc>
              <a:buFont typeface="Arial"/>
              <a:buChar char="•"/>
            </a:pPr>
            <a:r>
              <a:rPr lang="en-US" sz="2831">
                <a:solidFill>
                  <a:srgbClr val="537032"/>
                </a:solidFill>
                <a:latin typeface="Sree Krushnadevaraya"/>
                <a:ea typeface="Sree Krushnadevaraya"/>
                <a:cs typeface="Sree Krushnadevaraya"/>
                <a:sym typeface="Sree Krushnadevaraya"/>
              </a:rPr>
              <a:t>Admin:</a:t>
            </a:r>
            <a:r>
              <a:rPr lang="en-US" sz="2831">
                <a:solidFill>
                  <a:srgbClr val="1F1347"/>
                </a:solidFill>
                <a:latin typeface="Sree Krushnadevaraya"/>
                <a:ea typeface="Sree Krushnadevaraya"/>
                <a:cs typeface="Sree Krushnadevaraya"/>
                <a:sym typeface="Sree Krushnadevaraya"/>
              </a:rPr>
              <a:t> Has access to a dashboard to manage pizzas, track orders, view payments, and respond to user feedback.</a:t>
            </a:r>
          </a:p>
          <a:p>
            <a:pPr algn="just">
              <a:lnSpc>
                <a:spcPts val="3963"/>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false" flipV="false" rot="-654789">
            <a:off x="-151518" y="-243024"/>
            <a:ext cx="1566552" cy="1464014"/>
          </a:xfrm>
          <a:custGeom>
            <a:avLst/>
            <a:gdLst/>
            <a:ahLst/>
            <a:cxnLst/>
            <a:rect r="r" b="b" t="t" l="l"/>
            <a:pathLst>
              <a:path h="1464014" w="1566552">
                <a:moveTo>
                  <a:pt x="0" y="0"/>
                </a:moveTo>
                <a:lnTo>
                  <a:pt x="1566551" y="0"/>
                </a:lnTo>
                <a:lnTo>
                  <a:pt x="1566551" y="1464014"/>
                </a:lnTo>
                <a:lnTo>
                  <a:pt x="0" y="14640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6833" y="9047286"/>
            <a:ext cx="1105533" cy="1388226"/>
          </a:xfrm>
          <a:custGeom>
            <a:avLst/>
            <a:gdLst/>
            <a:ahLst/>
            <a:cxnLst/>
            <a:rect r="r" b="b" t="t" l="l"/>
            <a:pathLst>
              <a:path h="1388226" w="1105533">
                <a:moveTo>
                  <a:pt x="0" y="0"/>
                </a:moveTo>
                <a:lnTo>
                  <a:pt x="1105533" y="0"/>
                </a:lnTo>
                <a:lnTo>
                  <a:pt x="1105533" y="1388226"/>
                </a:lnTo>
                <a:lnTo>
                  <a:pt x="0" y="13882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684796" y="1028700"/>
            <a:ext cx="8574504" cy="4222912"/>
          </a:xfrm>
          <a:custGeom>
            <a:avLst/>
            <a:gdLst/>
            <a:ahLst/>
            <a:cxnLst/>
            <a:rect r="r" b="b" t="t" l="l"/>
            <a:pathLst>
              <a:path h="4222912" w="8574504">
                <a:moveTo>
                  <a:pt x="0" y="0"/>
                </a:moveTo>
                <a:lnTo>
                  <a:pt x="8574504" y="0"/>
                </a:lnTo>
                <a:lnTo>
                  <a:pt x="8574504" y="4222912"/>
                </a:lnTo>
                <a:lnTo>
                  <a:pt x="0" y="4222912"/>
                </a:lnTo>
                <a:lnTo>
                  <a:pt x="0" y="0"/>
                </a:lnTo>
                <a:close/>
              </a:path>
            </a:pathLst>
          </a:custGeom>
          <a:blipFill>
            <a:blip r:embed="rId6"/>
            <a:stretch>
              <a:fillRect l="-19497" t="0" r="-21009" b="-16614"/>
            </a:stretch>
          </a:blipFill>
        </p:spPr>
      </p:sp>
      <p:sp>
        <p:nvSpPr>
          <p:cNvPr name="Freeform 5" id="5"/>
          <p:cNvSpPr/>
          <p:nvPr/>
        </p:nvSpPr>
        <p:spPr>
          <a:xfrm flipH="false" flipV="false" rot="0">
            <a:off x="9585340" y="5765060"/>
            <a:ext cx="7946554" cy="3784546"/>
          </a:xfrm>
          <a:custGeom>
            <a:avLst/>
            <a:gdLst/>
            <a:ahLst/>
            <a:cxnLst/>
            <a:rect r="r" b="b" t="t" l="l"/>
            <a:pathLst>
              <a:path h="3784546" w="7946554">
                <a:moveTo>
                  <a:pt x="0" y="0"/>
                </a:moveTo>
                <a:lnTo>
                  <a:pt x="7946554" y="0"/>
                </a:lnTo>
                <a:lnTo>
                  <a:pt x="7946554" y="3784546"/>
                </a:lnTo>
                <a:lnTo>
                  <a:pt x="0" y="3784546"/>
                </a:lnTo>
                <a:lnTo>
                  <a:pt x="0" y="0"/>
                </a:lnTo>
                <a:close/>
              </a:path>
            </a:pathLst>
          </a:custGeom>
          <a:blipFill>
            <a:blip r:embed="rId7"/>
            <a:stretch>
              <a:fillRect l="0" t="0" r="0" b="0"/>
            </a:stretch>
          </a:blipFill>
        </p:spPr>
      </p:sp>
      <p:sp>
        <p:nvSpPr>
          <p:cNvPr name="Freeform 6" id="6"/>
          <p:cNvSpPr/>
          <p:nvPr/>
        </p:nvSpPr>
        <p:spPr>
          <a:xfrm flipH="false" flipV="false" rot="0">
            <a:off x="475933" y="5986796"/>
            <a:ext cx="8208863" cy="3540072"/>
          </a:xfrm>
          <a:custGeom>
            <a:avLst/>
            <a:gdLst/>
            <a:ahLst/>
            <a:cxnLst/>
            <a:rect r="r" b="b" t="t" l="l"/>
            <a:pathLst>
              <a:path h="3540072" w="8208863">
                <a:moveTo>
                  <a:pt x="0" y="0"/>
                </a:moveTo>
                <a:lnTo>
                  <a:pt x="8208863" y="0"/>
                </a:lnTo>
                <a:lnTo>
                  <a:pt x="8208863" y="3540072"/>
                </a:lnTo>
                <a:lnTo>
                  <a:pt x="0" y="3540072"/>
                </a:lnTo>
                <a:lnTo>
                  <a:pt x="0" y="0"/>
                </a:lnTo>
                <a:close/>
              </a:path>
            </a:pathLst>
          </a:custGeom>
          <a:blipFill>
            <a:blip r:embed="rId8"/>
            <a:stretch>
              <a:fillRect l="0" t="0" r="0" b="0"/>
            </a:stretch>
          </a:blipFill>
        </p:spPr>
      </p:sp>
      <p:sp>
        <p:nvSpPr>
          <p:cNvPr name="TextBox 7" id="7"/>
          <p:cNvSpPr txBox="true"/>
          <p:nvPr/>
        </p:nvSpPr>
        <p:spPr>
          <a:xfrm rot="0">
            <a:off x="104775" y="1192111"/>
            <a:ext cx="6427442" cy="4794686"/>
          </a:xfrm>
          <a:prstGeom prst="rect">
            <a:avLst/>
          </a:prstGeom>
        </p:spPr>
        <p:txBody>
          <a:bodyPr anchor="t" rtlCol="false" tIns="0" lIns="0" bIns="0" rIns="0">
            <a:spAutoFit/>
          </a:bodyPr>
          <a:lstStyle/>
          <a:p>
            <a:pPr algn="l">
              <a:lnSpc>
                <a:spcPts val="5448"/>
              </a:lnSpc>
            </a:pPr>
            <a:r>
              <a:rPr lang="en-US" sz="3891">
                <a:solidFill>
                  <a:srgbClr val="537032"/>
                </a:solidFill>
                <a:latin typeface="Shrikhand"/>
                <a:ea typeface="Shrikhand"/>
                <a:cs typeface="Shrikhand"/>
                <a:sym typeface="Shrikhand"/>
              </a:rPr>
              <a:t>Key Features:</a:t>
            </a:r>
          </a:p>
          <a:p>
            <a:pPr algn="l" marL="840184" indent="-420092" lvl="1">
              <a:lnSpc>
                <a:spcPts val="5448"/>
              </a:lnSpc>
              <a:buFont typeface="Arial"/>
              <a:buChar char="•"/>
            </a:pPr>
            <a:r>
              <a:rPr lang="en-US" sz="3891">
                <a:solidFill>
                  <a:srgbClr val="000000"/>
                </a:solidFill>
                <a:latin typeface="Noto Serif Ethiopic Condensed"/>
                <a:ea typeface="Noto Serif Ethiopic Condensed"/>
                <a:cs typeface="Noto Serif Ethiopic Condensed"/>
                <a:sym typeface="Noto Serif Ethiopic Condensed"/>
              </a:rPr>
              <a:t>Online pizza menu</a:t>
            </a:r>
          </a:p>
          <a:p>
            <a:pPr algn="l" marL="840184" indent="-420092" lvl="1">
              <a:lnSpc>
                <a:spcPts val="5448"/>
              </a:lnSpc>
              <a:buFont typeface="Arial"/>
              <a:buChar char="•"/>
            </a:pPr>
            <a:r>
              <a:rPr lang="en-US" sz="3891">
                <a:solidFill>
                  <a:srgbClr val="000000"/>
                </a:solidFill>
                <a:latin typeface="Noto Serif Ethiopic Condensed"/>
                <a:ea typeface="Noto Serif Ethiopic Condensed"/>
                <a:cs typeface="Noto Serif Ethiopic Condensed"/>
                <a:sym typeface="Noto Serif Ethiopic Condensed"/>
              </a:rPr>
              <a:t>User login (</a:t>
            </a:r>
            <a:r>
              <a:rPr lang="en-US" sz="3891">
                <a:solidFill>
                  <a:srgbClr val="000000"/>
                </a:solidFill>
                <a:latin typeface="Noto Serif Ethiopic Condensed"/>
                <a:ea typeface="Noto Serif Ethiopic Condensed"/>
                <a:cs typeface="Noto Serif Ethiopic Condensed"/>
                <a:sym typeface="Noto Serif Ethiopic Condensed"/>
              </a:rPr>
              <a:t>Admin &amp; Client)</a:t>
            </a:r>
          </a:p>
          <a:p>
            <a:pPr algn="l" marL="840184" indent="-420092" lvl="1">
              <a:lnSpc>
                <a:spcPts val="5448"/>
              </a:lnSpc>
              <a:buFont typeface="Arial"/>
              <a:buChar char="•"/>
            </a:pPr>
            <a:r>
              <a:rPr lang="en-US" sz="3891">
                <a:solidFill>
                  <a:srgbClr val="000000"/>
                </a:solidFill>
                <a:latin typeface="Noto Serif Ethiopic Condensed"/>
                <a:ea typeface="Noto Serif Ethiopic Condensed"/>
                <a:cs typeface="Noto Serif Ethiopic Condensed"/>
                <a:sym typeface="Noto Serif Ethiopic Condensed"/>
              </a:rPr>
              <a:t>Cart and order placement</a:t>
            </a:r>
          </a:p>
          <a:p>
            <a:pPr algn="l" marL="840184" indent="-420092" lvl="1">
              <a:lnSpc>
                <a:spcPts val="5448"/>
              </a:lnSpc>
              <a:buFont typeface="Arial"/>
              <a:buChar char="•"/>
            </a:pPr>
            <a:r>
              <a:rPr lang="en-US" sz="3891">
                <a:solidFill>
                  <a:srgbClr val="000000"/>
                </a:solidFill>
                <a:latin typeface="Noto Serif Ethiopic Condensed"/>
                <a:ea typeface="Noto Serif Ethiopic Condensed"/>
                <a:cs typeface="Noto Serif Ethiopic Condensed"/>
                <a:sym typeface="Noto Serif Ethiopic Condensed"/>
              </a:rPr>
              <a:t>Payment integration</a:t>
            </a:r>
          </a:p>
          <a:p>
            <a:pPr algn="l" marL="840184" indent="-420092" lvl="1">
              <a:lnSpc>
                <a:spcPts val="5448"/>
              </a:lnSpc>
              <a:buFont typeface="Arial"/>
              <a:buChar char="•"/>
            </a:pPr>
            <a:r>
              <a:rPr lang="en-US" sz="3891">
                <a:solidFill>
                  <a:srgbClr val="000000"/>
                </a:solidFill>
                <a:latin typeface="Noto Serif Ethiopic Condensed"/>
                <a:ea typeface="Noto Serif Ethiopic Condensed"/>
                <a:cs typeface="Noto Serif Ethiopic Condensed"/>
                <a:sym typeface="Noto Serif Ethiopic Condensed"/>
              </a:rPr>
              <a:t>Feedback system</a:t>
            </a:r>
          </a:p>
          <a:p>
            <a:pPr algn="l">
              <a:lnSpc>
                <a:spcPts val="5448"/>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false" flipV="false" rot="567745">
            <a:off x="-241935" y="-389563"/>
            <a:ext cx="1437070" cy="1309040"/>
          </a:xfrm>
          <a:custGeom>
            <a:avLst/>
            <a:gdLst/>
            <a:ahLst/>
            <a:cxnLst/>
            <a:rect r="r" b="b" t="t" l="l"/>
            <a:pathLst>
              <a:path h="1309040" w="1437070">
                <a:moveTo>
                  <a:pt x="0" y="0"/>
                </a:moveTo>
                <a:lnTo>
                  <a:pt x="1437071" y="0"/>
                </a:lnTo>
                <a:lnTo>
                  <a:pt x="1437071" y="1309041"/>
                </a:lnTo>
                <a:lnTo>
                  <a:pt x="0" y="13090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38224" y="78106"/>
            <a:ext cx="6784813" cy="2640725"/>
          </a:xfrm>
          <a:custGeom>
            <a:avLst/>
            <a:gdLst/>
            <a:ahLst/>
            <a:cxnLst/>
            <a:rect r="r" b="b" t="t" l="l"/>
            <a:pathLst>
              <a:path h="2640725" w="6784813">
                <a:moveTo>
                  <a:pt x="0" y="0"/>
                </a:moveTo>
                <a:lnTo>
                  <a:pt x="6784813" y="0"/>
                </a:lnTo>
                <a:lnTo>
                  <a:pt x="6784813" y="2640725"/>
                </a:lnTo>
                <a:lnTo>
                  <a:pt x="0" y="2640725"/>
                </a:lnTo>
                <a:lnTo>
                  <a:pt x="0" y="0"/>
                </a:lnTo>
                <a:close/>
              </a:path>
            </a:pathLst>
          </a:custGeom>
          <a:blipFill>
            <a:blip r:embed="rId4"/>
            <a:stretch>
              <a:fillRect l="-2243" t="0" r="-2243" b="0"/>
            </a:stretch>
          </a:blipFill>
        </p:spPr>
      </p:sp>
      <p:sp>
        <p:nvSpPr>
          <p:cNvPr name="Freeform 4" id="4"/>
          <p:cNvSpPr/>
          <p:nvPr/>
        </p:nvSpPr>
        <p:spPr>
          <a:xfrm flipH="false" flipV="false" rot="0">
            <a:off x="9560219" y="2976006"/>
            <a:ext cx="8140823" cy="4334988"/>
          </a:xfrm>
          <a:custGeom>
            <a:avLst/>
            <a:gdLst/>
            <a:ahLst/>
            <a:cxnLst/>
            <a:rect r="r" b="b" t="t" l="l"/>
            <a:pathLst>
              <a:path h="4334988" w="8140823">
                <a:moveTo>
                  <a:pt x="0" y="0"/>
                </a:moveTo>
                <a:lnTo>
                  <a:pt x="8140823" y="0"/>
                </a:lnTo>
                <a:lnTo>
                  <a:pt x="8140823" y="4334988"/>
                </a:lnTo>
                <a:lnTo>
                  <a:pt x="0" y="4334988"/>
                </a:lnTo>
                <a:lnTo>
                  <a:pt x="0" y="0"/>
                </a:lnTo>
                <a:close/>
              </a:path>
            </a:pathLst>
          </a:custGeom>
          <a:blipFill>
            <a:blip r:embed="rId5"/>
            <a:stretch>
              <a:fillRect l="0" t="0" r="0" b="0"/>
            </a:stretch>
          </a:blipFill>
        </p:spPr>
      </p:sp>
      <p:sp>
        <p:nvSpPr>
          <p:cNvPr name="Freeform 5" id="5"/>
          <p:cNvSpPr/>
          <p:nvPr/>
        </p:nvSpPr>
        <p:spPr>
          <a:xfrm flipH="false" flipV="false" rot="0">
            <a:off x="11262877" y="7568169"/>
            <a:ext cx="4735507" cy="2530019"/>
          </a:xfrm>
          <a:custGeom>
            <a:avLst/>
            <a:gdLst/>
            <a:ahLst/>
            <a:cxnLst/>
            <a:rect r="r" b="b" t="t" l="l"/>
            <a:pathLst>
              <a:path h="2530019" w="4735507">
                <a:moveTo>
                  <a:pt x="0" y="0"/>
                </a:moveTo>
                <a:lnTo>
                  <a:pt x="4735507" y="0"/>
                </a:lnTo>
                <a:lnTo>
                  <a:pt x="4735507" y="2530019"/>
                </a:lnTo>
                <a:lnTo>
                  <a:pt x="0" y="2530019"/>
                </a:lnTo>
                <a:lnTo>
                  <a:pt x="0" y="0"/>
                </a:lnTo>
                <a:close/>
              </a:path>
            </a:pathLst>
          </a:custGeom>
          <a:blipFill>
            <a:blip r:embed="rId6"/>
            <a:stretch>
              <a:fillRect l="0" t="0" r="0" b="0"/>
            </a:stretch>
          </a:blipFill>
        </p:spPr>
      </p:sp>
      <p:sp>
        <p:nvSpPr>
          <p:cNvPr name="TextBox 6" id="6"/>
          <p:cNvSpPr txBox="true"/>
          <p:nvPr/>
        </p:nvSpPr>
        <p:spPr>
          <a:xfrm rot="0">
            <a:off x="571851" y="554192"/>
            <a:ext cx="7992428" cy="4644390"/>
          </a:xfrm>
          <a:prstGeom prst="rect">
            <a:avLst/>
          </a:prstGeom>
        </p:spPr>
        <p:txBody>
          <a:bodyPr anchor="t" rtlCol="false" tIns="0" lIns="0" bIns="0" rIns="0">
            <a:spAutoFit/>
          </a:bodyPr>
          <a:lstStyle/>
          <a:p>
            <a:pPr algn="l">
              <a:lnSpc>
                <a:spcPts val="5739"/>
              </a:lnSpc>
            </a:pPr>
            <a:r>
              <a:rPr lang="en-US" sz="4099">
                <a:solidFill>
                  <a:srgbClr val="74292B"/>
                </a:solidFill>
                <a:latin typeface="Shrikhand"/>
                <a:ea typeface="Shrikhand"/>
                <a:cs typeface="Shrikhand"/>
                <a:sym typeface="Shrikhand"/>
              </a:rPr>
              <a:t>Tools and Technologies Used</a:t>
            </a:r>
          </a:p>
          <a:p>
            <a:pPr algn="l" marL="798828" indent="-399414" lvl="1">
              <a:lnSpc>
                <a:spcPts val="5179"/>
              </a:lnSpc>
              <a:buFont typeface="Arial"/>
              <a:buChar char="•"/>
            </a:pPr>
            <a:r>
              <a:rPr lang="en-US" sz="3699">
                <a:solidFill>
                  <a:srgbClr val="8D5B66"/>
                </a:solidFill>
                <a:latin typeface="Noto Serif Ethiopic Condensed"/>
                <a:ea typeface="Noto Serif Ethiopic Condensed"/>
                <a:cs typeface="Noto Serif Ethiopic Condensed"/>
                <a:sym typeface="Noto Serif Ethiopic Condensed"/>
              </a:rPr>
              <a:t>Frontend: HTML, CSS</a:t>
            </a:r>
          </a:p>
          <a:p>
            <a:pPr algn="l" marL="798828" indent="-399414" lvl="1">
              <a:lnSpc>
                <a:spcPts val="5179"/>
              </a:lnSpc>
              <a:buFont typeface="Arial"/>
              <a:buChar char="•"/>
            </a:pPr>
            <a:r>
              <a:rPr lang="en-US" sz="3699">
                <a:solidFill>
                  <a:srgbClr val="8D5B66"/>
                </a:solidFill>
                <a:latin typeface="Noto Serif Ethiopic Condensed"/>
                <a:ea typeface="Noto Serif Ethiopic Condensed"/>
                <a:cs typeface="Noto Serif Ethiopic Condensed"/>
                <a:sym typeface="Noto Serif Ethiopic Condensed"/>
              </a:rPr>
              <a:t>Backend: PHP</a:t>
            </a:r>
          </a:p>
          <a:p>
            <a:pPr algn="l" marL="798828" indent="-399414" lvl="1">
              <a:lnSpc>
                <a:spcPts val="5179"/>
              </a:lnSpc>
              <a:buFont typeface="Arial"/>
              <a:buChar char="•"/>
            </a:pPr>
            <a:r>
              <a:rPr lang="en-US" sz="3699">
                <a:solidFill>
                  <a:srgbClr val="8D5B66"/>
                </a:solidFill>
                <a:latin typeface="Noto Serif Ethiopic Condensed"/>
                <a:ea typeface="Noto Serif Ethiopic Condensed"/>
                <a:cs typeface="Noto Serif Ethiopic Condensed"/>
                <a:sym typeface="Noto Serif Ethiopic Condensed"/>
              </a:rPr>
              <a:t>Database: MySQL</a:t>
            </a:r>
          </a:p>
          <a:p>
            <a:pPr algn="l" marL="798828" indent="-399414" lvl="1">
              <a:lnSpc>
                <a:spcPts val="5179"/>
              </a:lnSpc>
              <a:buFont typeface="Arial"/>
              <a:buChar char="•"/>
            </a:pPr>
            <a:r>
              <a:rPr lang="en-US" sz="3699">
                <a:solidFill>
                  <a:srgbClr val="8D5B66"/>
                </a:solidFill>
                <a:latin typeface="Noto Serif Ethiopic Condensed"/>
                <a:ea typeface="Noto Serif Ethiopic Condensed"/>
                <a:cs typeface="Noto Serif Ethiopic Condensed"/>
                <a:sym typeface="Noto Serif Ethiopic Condensed"/>
              </a:rPr>
              <a:t>Server: XAMPP (Apache + MySQL)</a:t>
            </a:r>
          </a:p>
          <a:p>
            <a:pPr algn="l" marL="798828" indent="-399414" lvl="1">
              <a:lnSpc>
                <a:spcPts val="5179"/>
              </a:lnSpc>
              <a:buFont typeface="Arial"/>
              <a:buChar char="•"/>
            </a:pPr>
            <a:r>
              <a:rPr lang="en-US" sz="3699">
                <a:solidFill>
                  <a:srgbClr val="8D5B66"/>
                </a:solidFill>
                <a:latin typeface="Noto Serif Ethiopic Condensed"/>
                <a:ea typeface="Noto Serif Ethiopic Condensed"/>
                <a:cs typeface="Noto Serif Ethiopic Condensed"/>
                <a:sym typeface="Noto Serif Ethiopic Condensed"/>
              </a:rPr>
              <a:t>IDE: Visual Studio Code</a:t>
            </a:r>
          </a:p>
          <a:p>
            <a:pPr algn="l">
              <a:lnSpc>
                <a:spcPts val="5179"/>
              </a:lnSpc>
            </a:pPr>
          </a:p>
        </p:txBody>
      </p:sp>
      <p:sp>
        <p:nvSpPr>
          <p:cNvPr name="TextBox 7" id="7"/>
          <p:cNvSpPr txBox="true"/>
          <p:nvPr/>
        </p:nvSpPr>
        <p:spPr>
          <a:xfrm rot="0">
            <a:off x="571851" y="5176938"/>
            <a:ext cx="8012291" cy="4921250"/>
          </a:xfrm>
          <a:prstGeom prst="rect">
            <a:avLst/>
          </a:prstGeom>
        </p:spPr>
        <p:txBody>
          <a:bodyPr anchor="t" rtlCol="false" tIns="0" lIns="0" bIns="0" rIns="0">
            <a:spAutoFit/>
          </a:bodyPr>
          <a:lstStyle/>
          <a:p>
            <a:pPr algn="l">
              <a:lnSpc>
                <a:spcPts val="4899"/>
              </a:lnSpc>
            </a:pPr>
            <a:r>
              <a:rPr lang="en-US" sz="3499">
                <a:solidFill>
                  <a:srgbClr val="537032"/>
                </a:solidFill>
                <a:latin typeface="Noto Serif Ethiopic Condensed"/>
                <a:ea typeface="Noto Serif Ethiopic Condensed"/>
                <a:cs typeface="Noto Serif Ethiopic Condensed"/>
                <a:sym typeface="Noto Serif Ethiopic Condensed"/>
              </a:rPr>
              <a:t>Why we chose them:</a:t>
            </a:r>
          </a:p>
          <a:p>
            <a:pPr algn="l" marL="755649" indent="-377824" lvl="1">
              <a:lnSpc>
                <a:spcPts val="4899"/>
              </a:lnSpc>
              <a:buFont typeface="Arial"/>
              <a:buChar char="•"/>
            </a:pPr>
            <a:r>
              <a:rPr lang="en-US" sz="3499">
                <a:solidFill>
                  <a:srgbClr val="3B6364"/>
                </a:solidFill>
                <a:latin typeface="Noto Serif Ethiopic Condensed"/>
                <a:ea typeface="Noto Serif Ethiopic Condensed"/>
                <a:cs typeface="Noto Serif Ethiopic Condensed"/>
                <a:sym typeface="Noto Serif Ethiopic Condensed"/>
              </a:rPr>
              <a:t>Easy setup with XAMPP</a:t>
            </a:r>
          </a:p>
          <a:p>
            <a:pPr algn="l" marL="755649" indent="-377824" lvl="1">
              <a:lnSpc>
                <a:spcPts val="4899"/>
              </a:lnSpc>
              <a:buFont typeface="Arial"/>
              <a:buChar char="•"/>
            </a:pPr>
            <a:r>
              <a:rPr lang="en-US" sz="3499">
                <a:solidFill>
                  <a:srgbClr val="3B6364"/>
                </a:solidFill>
                <a:latin typeface="Noto Serif Ethiopic Condensed"/>
                <a:ea typeface="Noto Serif Ethiopic Condensed"/>
                <a:cs typeface="Noto Serif Ethiopic Condensed"/>
                <a:sym typeface="Noto Serif Ethiopic Condensed"/>
              </a:rPr>
              <a:t>PHP is widely used for web development</a:t>
            </a:r>
          </a:p>
          <a:p>
            <a:pPr algn="l" marL="755649" indent="-377824" lvl="1">
              <a:lnSpc>
                <a:spcPts val="4899"/>
              </a:lnSpc>
              <a:buFont typeface="Arial"/>
              <a:buChar char="•"/>
            </a:pPr>
            <a:r>
              <a:rPr lang="en-US" sz="3499">
                <a:solidFill>
                  <a:srgbClr val="3B6364"/>
                </a:solidFill>
                <a:latin typeface="Noto Serif Ethiopic Condensed"/>
                <a:ea typeface="Noto Serif Ethiopic Condensed"/>
                <a:cs typeface="Noto Serif Ethiopic Condensed"/>
                <a:sym typeface="Noto Serif Ethiopic Condensed"/>
              </a:rPr>
              <a:t>MySQL is efficient for relational data</a:t>
            </a:r>
          </a:p>
          <a:p>
            <a:pPr algn="l" marL="755649" indent="-377824" lvl="1">
              <a:lnSpc>
                <a:spcPts val="4899"/>
              </a:lnSpc>
              <a:buFont typeface="Arial"/>
              <a:buChar char="•"/>
            </a:pPr>
            <a:r>
              <a:rPr lang="en-US" sz="3499">
                <a:solidFill>
                  <a:srgbClr val="3B6364"/>
                </a:solidFill>
                <a:latin typeface="Noto Serif Ethiopic Condensed"/>
                <a:ea typeface="Noto Serif Ethiopic Condensed"/>
                <a:cs typeface="Noto Serif Ethiopic Condensed"/>
                <a:sym typeface="Noto Serif Ethiopic Condensed"/>
              </a:rPr>
              <a:t>VS Code offers rich developer tools and extensions</a:t>
            </a:r>
          </a:p>
          <a:p>
            <a:pPr algn="l">
              <a:lnSpc>
                <a:spcPts val="489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false" flipV="false" rot="0">
            <a:off x="8838181" y="1443988"/>
            <a:ext cx="8035866" cy="6822555"/>
          </a:xfrm>
          <a:custGeom>
            <a:avLst/>
            <a:gdLst/>
            <a:ahLst/>
            <a:cxnLst/>
            <a:rect r="r" b="b" t="t" l="l"/>
            <a:pathLst>
              <a:path h="6822555" w="8035866">
                <a:moveTo>
                  <a:pt x="0" y="0"/>
                </a:moveTo>
                <a:lnTo>
                  <a:pt x="8035866" y="0"/>
                </a:lnTo>
                <a:lnTo>
                  <a:pt x="8035866" y="6822555"/>
                </a:lnTo>
                <a:lnTo>
                  <a:pt x="0" y="6822555"/>
                </a:lnTo>
                <a:lnTo>
                  <a:pt x="0" y="0"/>
                </a:lnTo>
                <a:close/>
              </a:path>
            </a:pathLst>
          </a:custGeom>
          <a:blipFill>
            <a:blip r:embed="rId2"/>
            <a:stretch>
              <a:fillRect l="0" t="-665" r="0" b="-665"/>
            </a:stretch>
          </a:blipFill>
        </p:spPr>
      </p:sp>
      <p:sp>
        <p:nvSpPr>
          <p:cNvPr name="TextBox 3" id="3"/>
          <p:cNvSpPr txBox="true"/>
          <p:nvPr/>
        </p:nvSpPr>
        <p:spPr>
          <a:xfrm rot="0">
            <a:off x="243007" y="388070"/>
            <a:ext cx="8900993" cy="7466141"/>
          </a:xfrm>
          <a:prstGeom prst="rect">
            <a:avLst/>
          </a:prstGeom>
        </p:spPr>
        <p:txBody>
          <a:bodyPr anchor="t" rtlCol="false" tIns="0" lIns="0" bIns="0" rIns="0">
            <a:spAutoFit/>
          </a:bodyPr>
          <a:lstStyle/>
          <a:p>
            <a:pPr algn="l">
              <a:lnSpc>
                <a:spcPts val="11067"/>
              </a:lnSpc>
              <a:spcBef>
                <a:spcPct val="0"/>
              </a:spcBef>
            </a:pPr>
            <a:r>
              <a:rPr lang="en-US" sz="7905">
                <a:solidFill>
                  <a:srgbClr val="9C3636"/>
                </a:solidFill>
                <a:latin typeface="Shrikhand"/>
                <a:ea typeface="Shrikhand"/>
                <a:cs typeface="Shrikhand"/>
                <a:sym typeface="Shrikhand"/>
              </a:rPr>
              <a:t>Database Design</a:t>
            </a:r>
          </a:p>
          <a:p>
            <a:pPr algn="l">
              <a:lnSpc>
                <a:spcPts val="6918"/>
              </a:lnSpc>
              <a:spcBef>
                <a:spcPct val="0"/>
              </a:spcBef>
            </a:pPr>
            <a:r>
              <a:rPr lang="en-US" sz="4941">
                <a:solidFill>
                  <a:srgbClr val="BE50AF"/>
                </a:solidFill>
                <a:latin typeface="Archivo Black"/>
                <a:ea typeface="Archivo Black"/>
                <a:cs typeface="Archivo Black"/>
                <a:sym typeface="Archivo Black"/>
              </a:rPr>
              <a:t>Main Tables:</a:t>
            </a:r>
          </a:p>
          <a:p>
            <a:pPr algn="l" marL="908862" indent="-454431" lvl="1">
              <a:lnSpc>
                <a:spcPts val="5893"/>
              </a:lnSpc>
              <a:buFont typeface="Arial"/>
              <a:buChar char="•"/>
            </a:pPr>
            <a:r>
              <a:rPr lang="en-US" sz="4209">
                <a:solidFill>
                  <a:srgbClr val="F0758A"/>
                </a:solidFill>
                <a:latin typeface="Garet"/>
                <a:ea typeface="Garet"/>
                <a:cs typeface="Garet"/>
                <a:sym typeface="Garet"/>
              </a:rPr>
              <a:t>customers</a:t>
            </a:r>
          </a:p>
          <a:p>
            <a:pPr algn="l" marL="908862" indent="-454431" lvl="1">
              <a:lnSpc>
                <a:spcPts val="5893"/>
              </a:lnSpc>
              <a:buFont typeface="Arial"/>
              <a:buChar char="•"/>
            </a:pPr>
            <a:r>
              <a:rPr lang="en-US" sz="4209">
                <a:solidFill>
                  <a:srgbClr val="F0758A"/>
                </a:solidFill>
                <a:latin typeface="Garet"/>
                <a:ea typeface="Garet"/>
                <a:cs typeface="Garet"/>
                <a:sym typeface="Garet"/>
              </a:rPr>
              <a:t>orders</a:t>
            </a:r>
          </a:p>
          <a:p>
            <a:pPr algn="l" marL="908862" indent="-454431" lvl="1">
              <a:lnSpc>
                <a:spcPts val="5893"/>
              </a:lnSpc>
              <a:buFont typeface="Arial"/>
              <a:buChar char="•"/>
            </a:pPr>
            <a:r>
              <a:rPr lang="en-US" sz="4209">
                <a:solidFill>
                  <a:srgbClr val="F0758A"/>
                </a:solidFill>
                <a:latin typeface="Garet"/>
                <a:ea typeface="Garet"/>
                <a:cs typeface="Garet"/>
                <a:sym typeface="Garet"/>
              </a:rPr>
              <a:t>pizzas</a:t>
            </a:r>
          </a:p>
          <a:p>
            <a:pPr algn="l" marL="908862" indent="-454431" lvl="1">
              <a:lnSpc>
                <a:spcPts val="5893"/>
              </a:lnSpc>
              <a:buFont typeface="Arial"/>
              <a:buChar char="•"/>
            </a:pPr>
            <a:r>
              <a:rPr lang="en-US" sz="4209">
                <a:solidFill>
                  <a:srgbClr val="F0758A"/>
                </a:solidFill>
                <a:latin typeface="Garet"/>
                <a:ea typeface="Garet"/>
                <a:cs typeface="Garet"/>
                <a:sym typeface="Garet"/>
              </a:rPr>
              <a:t>feedback</a:t>
            </a:r>
          </a:p>
          <a:p>
            <a:pPr algn="l" marL="908862" indent="-454431" lvl="1">
              <a:lnSpc>
                <a:spcPts val="5893"/>
              </a:lnSpc>
              <a:buFont typeface="Arial"/>
              <a:buChar char="•"/>
            </a:pPr>
            <a:r>
              <a:rPr lang="en-US" sz="4209">
                <a:solidFill>
                  <a:srgbClr val="F0758A"/>
                </a:solidFill>
                <a:latin typeface="Garet"/>
                <a:ea typeface="Garet"/>
                <a:cs typeface="Garet"/>
                <a:sym typeface="Garet"/>
              </a:rPr>
              <a:t>payments</a:t>
            </a:r>
          </a:p>
          <a:p>
            <a:pPr algn="l" marL="908862" indent="-454431" lvl="1">
              <a:lnSpc>
                <a:spcPts val="5893"/>
              </a:lnSpc>
              <a:buFont typeface="Arial"/>
              <a:buChar char="•"/>
            </a:pPr>
            <a:r>
              <a:rPr lang="en-US" sz="4209">
                <a:solidFill>
                  <a:srgbClr val="F0758A"/>
                </a:solidFill>
                <a:latin typeface="Garet"/>
                <a:ea typeface="Garet"/>
                <a:cs typeface="Garet"/>
                <a:sym typeface="Garet"/>
              </a:rPr>
              <a:t>Users</a:t>
            </a:r>
          </a:p>
          <a:p>
            <a:pPr algn="l" marL="908862" indent="-454431" lvl="1">
              <a:lnSpc>
                <a:spcPts val="5893"/>
              </a:lnSpc>
              <a:buFont typeface="Arial"/>
              <a:buChar char="•"/>
            </a:pPr>
            <a:r>
              <a:rPr lang="en-US" sz="4209">
                <a:solidFill>
                  <a:srgbClr val="F0758A"/>
                </a:solidFill>
                <a:latin typeface="Garet"/>
                <a:ea typeface="Garet"/>
                <a:cs typeface="Garet"/>
                <a:sym typeface="Garet"/>
              </a:rPr>
              <a:t>order_details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grpSp>
        <p:nvGrpSpPr>
          <p:cNvPr name="Group 2" id="2"/>
          <p:cNvGrpSpPr/>
          <p:nvPr/>
        </p:nvGrpSpPr>
        <p:grpSpPr>
          <a:xfrm rot="0">
            <a:off x="2466220" y="313855"/>
            <a:ext cx="13413787" cy="9783627"/>
            <a:chOff x="0" y="0"/>
            <a:chExt cx="14302208" cy="10431615"/>
          </a:xfrm>
        </p:grpSpPr>
        <p:sp>
          <p:nvSpPr>
            <p:cNvPr name="Freeform 3" id="3"/>
            <p:cNvSpPr/>
            <p:nvPr/>
          </p:nvSpPr>
          <p:spPr>
            <a:xfrm flipH="false" flipV="false" rot="0">
              <a:off x="31750" y="31750"/>
              <a:ext cx="14238708" cy="10368115"/>
            </a:xfrm>
            <a:custGeom>
              <a:avLst/>
              <a:gdLst/>
              <a:ahLst/>
              <a:cxnLst/>
              <a:rect r="r" b="b" t="t" l="l"/>
              <a:pathLst>
                <a:path h="10368115" w="14238708">
                  <a:moveTo>
                    <a:pt x="14145997" y="10368115"/>
                  </a:moveTo>
                  <a:lnTo>
                    <a:pt x="92710" y="10368115"/>
                  </a:lnTo>
                  <a:cubicBezTo>
                    <a:pt x="41910" y="10368115"/>
                    <a:pt x="0" y="10326205"/>
                    <a:pt x="0" y="10275405"/>
                  </a:cubicBezTo>
                  <a:lnTo>
                    <a:pt x="0" y="92710"/>
                  </a:lnTo>
                  <a:cubicBezTo>
                    <a:pt x="0" y="41910"/>
                    <a:pt x="41910" y="0"/>
                    <a:pt x="92710" y="0"/>
                  </a:cubicBezTo>
                  <a:lnTo>
                    <a:pt x="14144727" y="0"/>
                  </a:lnTo>
                  <a:cubicBezTo>
                    <a:pt x="14195527" y="0"/>
                    <a:pt x="14237438" y="41910"/>
                    <a:pt x="14237438" y="92710"/>
                  </a:cubicBezTo>
                  <a:lnTo>
                    <a:pt x="14237438" y="10274136"/>
                  </a:lnTo>
                  <a:cubicBezTo>
                    <a:pt x="14238708" y="10326205"/>
                    <a:pt x="14196797" y="10368115"/>
                    <a:pt x="14145997" y="10368115"/>
                  </a:cubicBezTo>
                  <a:close/>
                </a:path>
              </a:pathLst>
            </a:custGeom>
            <a:solidFill>
              <a:srgbClr val="FFFEF7"/>
            </a:solidFill>
          </p:spPr>
        </p:sp>
        <p:sp>
          <p:nvSpPr>
            <p:cNvPr name="Freeform 4" id="4"/>
            <p:cNvSpPr/>
            <p:nvPr/>
          </p:nvSpPr>
          <p:spPr>
            <a:xfrm flipH="false" flipV="false" rot="0">
              <a:off x="0" y="0"/>
              <a:ext cx="14302208" cy="10431616"/>
            </a:xfrm>
            <a:custGeom>
              <a:avLst/>
              <a:gdLst/>
              <a:ahLst/>
              <a:cxnLst/>
              <a:rect r="r" b="b" t="t" l="l"/>
              <a:pathLst>
                <a:path h="10431616" w="14302208">
                  <a:moveTo>
                    <a:pt x="14177747" y="59690"/>
                  </a:moveTo>
                  <a:cubicBezTo>
                    <a:pt x="14213308" y="59690"/>
                    <a:pt x="14242518" y="88900"/>
                    <a:pt x="14242518" y="124460"/>
                  </a:cubicBezTo>
                  <a:lnTo>
                    <a:pt x="14242518" y="10307155"/>
                  </a:lnTo>
                  <a:cubicBezTo>
                    <a:pt x="14242518" y="10342716"/>
                    <a:pt x="14213308" y="10371926"/>
                    <a:pt x="14177747" y="10371926"/>
                  </a:cubicBezTo>
                  <a:lnTo>
                    <a:pt x="124460" y="10371926"/>
                  </a:lnTo>
                  <a:cubicBezTo>
                    <a:pt x="88900" y="10371926"/>
                    <a:pt x="59690" y="10342716"/>
                    <a:pt x="59690" y="10307155"/>
                  </a:cubicBezTo>
                  <a:lnTo>
                    <a:pt x="59690" y="124460"/>
                  </a:lnTo>
                  <a:cubicBezTo>
                    <a:pt x="59690" y="88900"/>
                    <a:pt x="88900" y="59690"/>
                    <a:pt x="124460" y="59690"/>
                  </a:cubicBezTo>
                  <a:lnTo>
                    <a:pt x="14177749" y="59690"/>
                  </a:lnTo>
                  <a:moveTo>
                    <a:pt x="14177749" y="0"/>
                  </a:moveTo>
                  <a:lnTo>
                    <a:pt x="124460" y="0"/>
                  </a:lnTo>
                  <a:cubicBezTo>
                    <a:pt x="55880" y="0"/>
                    <a:pt x="0" y="55880"/>
                    <a:pt x="0" y="124460"/>
                  </a:cubicBezTo>
                  <a:lnTo>
                    <a:pt x="0" y="10307155"/>
                  </a:lnTo>
                  <a:cubicBezTo>
                    <a:pt x="0" y="10375736"/>
                    <a:pt x="55880" y="10431616"/>
                    <a:pt x="124460" y="10431616"/>
                  </a:cubicBezTo>
                  <a:lnTo>
                    <a:pt x="14177749" y="10431616"/>
                  </a:lnTo>
                  <a:cubicBezTo>
                    <a:pt x="14246327" y="10431616"/>
                    <a:pt x="14302208" y="10375736"/>
                    <a:pt x="14302208" y="10307155"/>
                  </a:cubicBezTo>
                  <a:lnTo>
                    <a:pt x="14302208" y="124460"/>
                  </a:lnTo>
                  <a:cubicBezTo>
                    <a:pt x="14302208" y="55880"/>
                    <a:pt x="14246327" y="0"/>
                    <a:pt x="14177749" y="0"/>
                  </a:cubicBezTo>
                  <a:close/>
                </a:path>
              </a:pathLst>
            </a:custGeom>
            <a:solidFill>
              <a:srgbClr val="191919"/>
            </a:solidFill>
          </p:spPr>
        </p:sp>
      </p:grpSp>
      <p:sp>
        <p:nvSpPr>
          <p:cNvPr name="Freeform 5" id="5"/>
          <p:cNvSpPr/>
          <p:nvPr/>
        </p:nvSpPr>
        <p:spPr>
          <a:xfrm flipH="false" flipV="false" rot="-1568932">
            <a:off x="15174338" y="8288657"/>
            <a:ext cx="1144336" cy="1640625"/>
          </a:xfrm>
          <a:custGeom>
            <a:avLst/>
            <a:gdLst/>
            <a:ahLst/>
            <a:cxnLst/>
            <a:rect r="r" b="b" t="t" l="l"/>
            <a:pathLst>
              <a:path h="1640625" w="1144336">
                <a:moveTo>
                  <a:pt x="0" y="0"/>
                </a:moveTo>
                <a:lnTo>
                  <a:pt x="1144336" y="0"/>
                </a:lnTo>
                <a:lnTo>
                  <a:pt x="1144336" y="1640625"/>
                </a:lnTo>
                <a:lnTo>
                  <a:pt x="0" y="16406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5027046">
            <a:off x="16282896" y="916013"/>
            <a:ext cx="1514128" cy="1379233"/>
          </a:xfrm>
          <a:custGeom>
            <a:avLst/>
            <a:gdLst/>
            <a:ahLst/>
            <a:cxnLst/>
            <a:rect r="r" b="b" t="t" l="l"/>
            <a:pathLst>
              <a:path h="1379233" w="1514128">
                <a:moveTo>
                  <a:pt x="0" y="0"/>
                </a:moveTo>
                <a:lnTo>
                  <a:pt x="1514129" y="0"/>
                </a:lnTo>
                <a:lnTo>
                  <a:pt x="1514129" y="1379234"/>
                </a:lnTo>
                <a:lnTo>
                  <a:pt x="0" y="13792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598781" y="2253332"/>
            <a:ext cx="11272601" cy="7519953"/>
          </a:xfrm>
          <a:custGeom>
            <a:avLst/>
            <a:gdLst/>
            <a:ahLst/>
            <a:cxnLst/>
            <a:rect r="r" b="b" t="t" l="l"/>
            <a:pathLst>
              <a:path h="7519953" w="11272601">
                <a:moveTo>
                  <a:pt x="0" y="0"/>
                </a:moveTo>
                <a:lnTo>
                  <a:pt x="11272601" y="0"/>
                </a:lnTo>
                <a:lnTo>
                  <a:pt x="11272601" y="7519953"/>
                </a:lnTo>
                <a:lnTo>
                  <a:pt x="0" y="7519953"/>
                </a:lnTo>
                <a:lnTo>
                  <a:pt x="0" y="0"/>
                </a:lnTo>
                <a:close/>
              </a:path>
            </a:pathLst>
          </a:custGeom>
          <a:blipFill>
            <a:blip r:embed="rId6"/>
            <a:stretch>
              <a:fillRect l="0" t="0" r="0" b="0"/>
            </a:stretch>
          </a:blipFill>
        </p:spPr>
      </p:sp>
      <p:sp>
        <p:nvSpPr>
          <p:cNvPr name="TextBox 8" id="8"/>
          <p:cNvSpPr txBox="true"/>
          <p:nvPr/>
        </p:nvSpPr>
        <p:spPr>
          <a:xfrm rot="0">
            <a:off x="4428671" y="280035"/>
            <a:ext cx="10239137" cy="1411605"/>
          </a:xfrm>
          <a:prstGeom prst="rect">
            <a:avLst/>
          </a:prstGeom>
        </p:spPr>
        <p:txBody>
          <a:bodyPr anchor="t" rtlCol="false" tIns="0" lIns="0" bIns="0" rIns="0">
            <a:spAutoFit/>
          </a:bodyPr>
          <a:lstStyle/>
          <a:p>
            <a:pPr algn="ctr">
              <a:lnSpc>
                <a:spcPts val="6579"/>
              </a:lnSpc>
              <a:spcBef>
                <a:spcPct val="0"/>
              </a:spcBef>
            </a:pPr>
            <a:r>
              <a:rPr lang="en-US" sz="4699">
                <a:solidFill>
                  <a:srgbClr val="39B54A"/>
                </a:solidFill>
                <a:latin typeface="Shrikhand"/>
                <a:ea typeface="Shrikhand"/>
                <a:cs typeface="Shrikhand"/>
                <a:sym typeface="Shrikhand"/>
              </a:rPr>
              <a:t>ERD / Schema:</a:t>
            </a:r>
          </a:p>
          <a:p>
            <a:pPr algn="ctr">
              <a:lnSpc>
                <a:spcPts val="4759"/>
              </a:lnSpc>
              <a:spcBef>
                <a:spcPct val="0"/>
              </a:spcBef>
            </a:pPr>
            <a:r>
              <a:rPr lang="en-US" sz="3399">
                <a:solidFill>
                  <a:srgbClr val="39B54A"/>
                </a:solidFill>
                <a:latin typeface="Shrikhand"/>
                <a:ea typeface="Shrikhand"/>
                <a:cs typeface="Shrikhand"/>
                <a:sym typeface="Shrikhand"/>
              </a:rPr>
              <a:t> (Insert ER Diagram or list of fields per table)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false" flipV="false" rot="0">
            <a:off x="12212641" y="422025"/>
            <a:ext cx="5732463" cy="3961565"/>
          </a:xfrm>
          <a:custGeom>
            <a:avLst/>
            <a:gdLst/>
            <a:ahLst/>
            <a:cxnLst/>
            <a:rect r="r" b="b" t="t" l="l"/>
            <a:pathLst>
              <a:path h="3961565" w="5732463">
                <a:moveTo>
                  <a:pt x="0" y="0"/>
                </a:moveTo>
                <a:lnTo>
                  <a:pt x="5732462" y="0"/>
                </a:lnTo>
                <a:lnTo>
                  <a:pt x="5732462" y="3961564"/>
                </a:lnTo>
                <a:lnTo>
                  <a:pt x="0" y="3961564"/>
                </a:lnTo>
                <a:lnTo>
                  <a:pt x="0" y="0"/>
                </a:lnTo>
                <a:close/>
              </a:path>
            </a:pathLst>
          </a:custGeom>
          <a:blipFill>
            <a:blip r:embed="rId2"/>
            <a:stretch>
              <a:fillRect l="0" t="0" r="0" b="0"/>
            </a:stretch>
          </a:blipFill>
        </p:spPr>
      </p:sp>
      <p:sp>
        <p:nvSpPr>
          <p:cNvPr name="Freeform 3" id="3"/>
          <p:cNvSpPr/>
          <p:nvPr/>
        </p:nvSpPr>
        <p:spPr>
          <a:xfrm flipH="false" flipV="false" rot="0">
            <a:off x="3701973" y="4855905"/>
            <a:ext cx="8510668" cy="2500009"/>
          </a:xfrm>
          <a:custGeom>
            <a:avLst/>
            <a:gdLst/>
            <a:ahLst/>
            <a:cxnLst/>
            <a:rect r="r" b="b" t="t" l="l"/>
            <a:pathLst>
              <a:path h="2500009" w="8510668">
                <a:moveTo>
                  <a:pt x="0" y="0"/>
                </a:moveTo>
                <a:lnTo>
                  <a:pt x="8510668" y="0"/>
                </a:lnTo>
                <a:lnTo>
                  <a:pt x="8510668" y="2500009"/>
                </a:lnTo>
                <a:lnTo>
                  <a:pt x="0" y="2500009"/>
                </a:lnTo>
                <a:lnTo>
                  <a:pt x="0" y="0"/>
                </a:lnTo>
                <a:close/>
              </a:path>
            </a:pathLst>
          </a:custGeom>
          <a:blipFill>
            <a:blip r:embed="rId3"/>
            <a:stretch>
              <a:fillRect l="0" t="0" r="0" b="0"/>
            </a:stretch>
          </a:blipFill>
        </p:spPr>
      </p:sp>
      <p:sp>
        <p:nvSpPr>
          <p:cNvPr name="Freeform 4" id="4"/>
          <p:cNvSpPr/>
          <p:nvPr/>
        </p:nvSpPr>
        <p:spPr>
          <a:xfrm flipH="false" flipV="false" rot="0">
            <a:off x="614962" y="7643509"/>
            <a:ext cx="8928603" cy="2500009"/>
          </a:xfrm>
          <a:custGeom>
            <a:avLst/>
            <a:gdLst/>
            <a:ahLst/>
            <a:cxnLst/>
            <a:rect r="r" b="b" t="t" l="l"/>
            <a:pathLst>
              <a:path h="2500009" w="8928603">
                <a:moveTo>
                  <a:pt x="0" y="0"/>
                </a:moveTo>
                <a:lnTo>
                  <a:pt x="8928603" y="0"/>
                </a:lnTo>
                <a:lnTo>
                  <a:pt x="8928603" y="2500009"/>
                </a:lnTo>
                <a:lnTo>
                  <a:pt x="0" y="2500009"/>
                </a:lnTo>
                <a:lnTo>
                  <a:pt x="0" y="0"/>
                </a:lnTo>
                <a:close/>
              </a:path>
            </a:pathLst>
          </a:custGeom>
          <a:blipFill>
            <a:blip r:embed="rId4"/>
            <a:stretch>
              <a:fillRect l="0" t="0" r="0" b="0"/>
            </a:stretch>
          </a:blipFill>
        </p:spPr>
      </p:sp>
      <p:sp>
        <p:nvSpPr>
          <p:cNvPr name="Freeform 5" id="5"/>
          <p:cNvSpPr/>
          <p:nvPr/>
        </p:nvSpPr>
        <p:spPr>
          <a:xfrm flipH="false" flipV="false" rot="0">
            <a:off x="13107323" y="4798462"/>
            <a:ext cx="4837781" cy="5114904"/>
          </a:xfrm>
          <a:custGeom>
            <a:avLst/>
            <a:gdLst/>
            <a:ahLst/>
            <a:cxnLst/>
            <a:rect r="r" b="b" t="t" l="l"/>
            <a:pathLst>
              <a:path h="5114904" w="4837781">
                <a:moveTo>
                  <a:pt x="0" y="0"/>
                </a:moveTo>
                <a:lnTo>
                  <a:pt x="4837780" y="0"/>
                </a:lnTo>
                <a:lnTo>
                  <a:pt x="4837780" y="5114904"/>
                </a:lnTo>
                <a:lnTo>
                  <a:pt x="0" y="5114904"/>
                </a:lnTo>
                <a:lnTo>
                  <a:pt x="0" y="0"/>
                </a:lnTo>
                <a:close/>
              </a:path>
            </a:pathLst>
          </a:custGeom>
          <a:blipFill>
            <a:blip r:embed="rId5"/>
            <a:stretch>
              <a:fillRect l="0" t="0" r="0" b="-11245"/>
            </a:stretch>
          </a:blipFill>
        </p:spPr>
      </p:sp>
      <p:sp>
        <p:nvSpPr>
          <p:cNvPr name="TextBox 6" id="6"/>
          <p:cNvSpPr txBox="true"/>
          <p:nvPr/>
        </p:nvSpPr>
        <p:spPr>
          <a:xfrm rot="0">
            <a:off x="186937" y="134123"/>
            <a:ext cx="9787475" cy="5009377"/>
          </a:xfrm>
          <a:prstGeom prst="rect">
            <a:avLst/>
          </a:prstGeom>
        </p:spPr>
        <p:txBody>
          <a:bodyPr anchor="t" rtlCol="false" tIns="0" lIns="0" bIns="0" rIns="0">
            <a:spAutoFit/>
          </a:bodyPr>
          <a:lstStyle/>
          <a:p>
            <a:pPr algn="l">
              <a:lnSpc>
                <a:spcPts val="5889"/>
              </a:lnSpc>
              <a:spcBef>
                <a:spcPct val="0"/>
              </a:spcBef>
            </a:pPr>
            <a:r>
              <a:rPr lang="en-US" sz="4206">
                <a:solidFill>
                  <a:srgbClr val="428CE2"/>
                </a:solidFill>
                <a:latin typeface="Shrikhand"/>
                <a:ea typeface="Shrikhand"/>
                <a:cs typeface="Shrikhand"/>
                <a:sym typeface="Shrikhand"/>
              </a:rPr>
              <a:t>User Registration &amp; Login</a:t>
            </a:r>
          </a:p>
          <a:p>
            <a:pPr algn="l">
              <a:lnSpc>
                <a:spcPts val="4842"/>
              </a:lnSpc>
              <a:spcBef>
                <a:spcPct val="0"/>
              </a:spcBef>
            </a:pPr>
            <a:r>
              <a:rPr lang="en-US" b="true" sz="3459">
                <a:solidFill>
                  <a:srgbClr val="BE50AF"/>
                </a:solidFill>
                <a:latin typeface="Noto Serif Ethiopic Condensed Bold"/>
                <a:ea typeface="Noto Serif Ethiopic Condensed Bold"/>
                <a:cs typeface="Noto Serif Ethiopic Condensed Bold"/>
                <a:sym typeface="Noto Serif Ethiopic Condensed Bold"/>
              </a:rPr>
              <a:t>Sign-Up Process:</a:t>
            </a:r>
            <a:r>
              <a:rPr lang="en-US" sz="3459">
                <a:solidFill>
                  <a:srgbClr val="BE50AF"/>
                </a:solidFill>
                <a:latin typeface="Noto Serif Ethiopic Condensed"/>
                <a:ea typeface="Noto Serif Ethiopic Condensed"/>
                <a:cs typeface="Noto Serif Ethiopic Condensed"/>
                <a:sym typeface="Noto Serif Ethiopic Condensed"/>
              </a:rPr>
              <a:t> Clients register with name, email, password</a:t>
            </a:r>
          </a:p>
          <a:p>
            <a:pPr algn="l">
              <a:lnSpc>
                <a:spcPts val="4842"/>
              </a:lnSpc>
              <a:spcBef>
                <a:spcPct val="0"/>
              </a:spcBef>
            </a:pPr>
            <a:r>
              <a:rPr lang="en-US" b="true" sz="3459">
                <a:solidFill>
                  <a:srgbClr val="BE50AF"/>
                </a:solidFill>
                <a:latin typeface="Noto Serif Ethiopic Condensed Bold"/>
                <a:ea typeface="Noto Serif Ethiopic Condensed Bold"/>
                <a:cs typeface="Noto Serif Ethiopic Condensed Bold"/>
                <a:sym typeface="Noto Serif Ethiopic Condensed Bold"/>
              </a:rPr>
              <a:t>Login:</a:t>
            </a:r>
          </a:p>
          <a:p>
            <a:pPr algn="l">
              <a:lnSpc>
                <a:spcPts val="4842"/>
              </a:lnSpc>
              <a:spcBef>
                <a:spcPct val="0"/>
              </a:spcBef>
            </a:pPr>
            <a:r>
              <a:rPr lang="en-US" b="true" sz="3459">
                <a:solidFill>
                  <a:srgbClr val="BE50AF"/>
                </a:solidFill>
                <a:latin typeface="Noto Serif Ethiopic Condensed Bold"/>
                <a:ea typeface="Noto Serif Ethiopic Condensed Bold"/>
                <a:cs typeface="Noto Serif Ethiopic Condensed Bold"/>
                <a:sym typeface="Noto Serif Ethiopic Condensed Bold"/>
              </a:rPr>
              <a:t>Admin:</a:t>
            </a:r>
            <a:r>
              <a:rPr lang="en-US" sz="3459">
                <a:solidFill>
                  <a:srgbClr val="BE50AF"/>
                </a:solidFill>
                <a:latin typeface="Noto Serif Ethiopic Condensed"/>
                <a:ea typeface="Noto Serif Ethiopic Condensed"/>
                <a:cs typeface="Noto Serif Ethiopic Condensed"/>
                <a:sym typeface="Noto Serif Ethiopic Condensed"/>
              </a:rPr>
              <a:t> Full control panel access</a:t>
            </a:r>
          </a:p>
          <a:p>
            <a:pPr algn="l">
              <a:lnSpc>
                <a:spcPts val="4842"/>
              </a:lnSpc>
              <a:spcBef>
                <a:spcPct val="0"/>
              </a:spcBef>
            </a:pPr>
            <a:r>
              <a:rPr lang="en-US" b="true" sz="3459">
                <a:solidFill>
                  <a:srgbClr val="BE50AF"/>
                </a:solidFill>
                <a:latin typeface="Noto Serif Ethiopic Condensed Bold"/>
                <a:ea typeface="Noto Serif Ethiopic Condensed Bold"/>
                <a:cs typeface="Noto Serif Ethiopic Condensed Bold"/>
                <a:sym typeface="Noto Serif Ethiopic Condensed Bold"/>
              </a:rPr>
              <a:t>Client: </a:t>
            </a:r>
            <a:r>
              <a:rPr lang="en-US" sz="3459">
                <a:solidFill>
                  <a:srgbClr val="BE50AF"/>
                </a:solidFill>
                <a:latin typeface="Noto Serif Ethiopic Condensed"/>
                <a:ea typeface="Noto Serif Ethiopic Condensed"/>
                <a:cs typeface="Noto Serif Ethiopic Condensed"/>
                <a:sym typeface="Noto Serif Ethiopic Condensed"/>
              </a:rPr>
              <a:t>Can browse, order, give feedback</a:t>
            </a:r>
          </a:p>
          <a:p>
            <a:pPr algn="l">
              <a:lnSpc>
                <a:spcPts val="4842"/>
              </a:lnSpc>
              <a:spcBef>
                <a:spcPct val="0"/>
              </a:spcBef>
            </a:pPr>
            <a:r>
              <a:rPr lang="en-US" b="true" sz="3459">
                <a:solidFill>
                  <a:srgbClr val="BE50AF"/>
                </a:solidFill>
                <a:latin typeface="Noto Serif Ethiopic Condensed Bold"/>
                <a:ea typeface="Noto Serif Ethiopic Condensed Bold"/>
                <a:cs typeface="Noto Serif Ethiopic Condensed Bold"/>
                <a:sym typeface="Noto Serif Ethiopic Condensed Bold"/>
              </a:rPr>
              <a:t>Security: </a:t>
            </a:r>
            <a:r>
              <a:rPr lang="en-US" sz="3459">
                <a:solidFill>
                  <a:srgbClr val="BE50AF"/>
                </a:solidFill>
                <a:latin typeface="Noto Serif Ethiopic Condensed"/>
                <a:ea typeface="Noto Serif Ethiopic Condensed"/>
                <a:cs typeface="Noto Serif Ethiopic Condensed"/>
                <a:sym typeface="Noto Serif Ethiopic Condensed"/>
              </a:rPr>
              <a:t>Sessions used to protect pages and track login status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10800000">
            <a:off x="8345876" y="8965557"/>
            <a:ext cx="12159733" cy="1680254"/>
          </a:xfrm>
          <a:custGeom>
            <a:avLst/>
            <a:gdLst/>
            <a:ahLst/>
            <a:cxnLst/>
            <a:rect r="r" b="b" t="t" l="l"/>
            <a:pathLst>
              <a:path h="1680254" w="12159733">
                <a:moveTo>
                  <a:pt x="12159733" y="0"/>
                </a:moveTo>
                <a:lnTo>
                  <a:pt x="0" y="0"/>
                </a:lnTo>
                <a:lnTo>
                  <a:pt x="0" y="1680254"/>
                </a:lnTo>
                <a:lnTo>
                  <a:pt x="12159733" y="1680254"/>
                </a:lnTo>
                <a:lnTo>
                  <a:pt x="1215973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232289">
            <a:off x="14408428" y="-1385488"/>
            <a:ext cx="5940956" cy="4828377"/>
          </a:xfrm>
          <a:custGeom>
            <a:avLst/>
            <a:gdLst/>
            <a:ahLst/>
            <a:cxnLst/>
            <a:rect r="r" b="b" t="t" l="l"/>
            <a:pathLst>
              <a:path h="4828377" w="5940956">
                <a:moveTo>
                  <a:pt x="5940956" y="0"/>
                </a:moveTo>
                <a:lnTo>
                  <a:pt x="0" y="0"/>
                </a:lnTo>
                <a:lnTo>
                  <a:pt x="0" y="4828376"/>
                </a:lnTo>
                <a:lnTo>
                  <a:pt x="5940956" y="4828376"/>
                </a:lnTo>
                <a:lnTo>
                  <a:pt x="594095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197352">
            <a:off x="16042408" y="-1028700"/>
            <a:ext cx="2933272" cy="4114800"/>
          </a:xfrm>
          <a:custGeom>
            <a:avLst/>
            <a:gdLst/>
            <a:ahLst/>
            <a:cxnLst/>
            <a:rect r="r" b="b" t="t" l="l"/>
            <a:pathLst>
              <a:path h="4114800" w="2933272">
                <a:moveTo>
                  <a:pt x="0" y="0"/>
                </a:moveTo>
                <a:lnTo>
                  <a:pt x="2933272" y="0"/>
                </a:lnTo>
                <a:lnTo>
                  <a:pt x="293327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890" y="25864"/>
            <a:ext cx="1123177" cy="2005673"/>
          </a:xfrm>
          <a:custGeom>
            <a:avLst/>
            <a:gdLst/>
            <a:ahLst/>
            <a:cxnLst/>
            <a:rect r="r" b="b" t="t" l="l"/>
            <a:pathLst>
              <a:path h="2005673" w="1123177">
                <a:moveTo>
                  <a:pt x="0" y="0"/>
                </a:moveTo>
                <a:lnTo>
                  <a:pt x="1123177" y="0"/>
                </a:lnTo>
                <a:lnTo>
                  <a:pt x="1123177" y="2005672"/>
                </a:lnTo>
                <a:lnTo>
                  <a:pt x="0" y="20056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599154" y="8527154"/>
            <a:ext cx="2287706" cy="2287706"/>
          </a:xfrm>
          <a:custGeom>
            <a:avLst/>
            <a:gdLst/>
            <a:ahLst/>
            <a:cxnLst/>
            <a:rect r="r" b="b" t="t" l="l"/>
            <a:pathLst>
              <a:path h="2287706" w="2287706">
                <a:moveTo>
                  <a:pt x="0" y="0"/>
                </a:moveTo>
                <a:lnTo>
                  <a:pt x="2287706" y="0"/>
                </a:lnTo>
                <a:lnTo>
                  <a:pt x="2287706" y="2287706"/>
                </a:lnTo>
                <a:lnTo>
                  <a:pt x="0" y="228770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8731654" y="1265012"/>
            <a:ext cx="7779170" cy="6356958"/>
          </a:xfrm>
          <a:custGeom>
            <a:avLst/>
            <a:gdLst/>
            <a:ahLst/>
            <a:cxnLst/>
            <a:rect r="r" b="b" t="t" l="l"/>
            <a:pathLst>
              <a:path h="6356958" w="7779170">
                <a:moveTo>
                  <a:pt x="0" y="0"/>
                </a:moveTo>
                <a:lnTo>
                  <a:pt x="7779170" y="0"/>
                </a:lnTo>
                <a:lnTo>
                  <a:pt x="7779170" y="6356958"/>
                </a:lnTo>
                <a:lnTo>
                  <a:pt x="0" y="6356958"/>
                </a:lnTo>
                <a:lnTo>
                  <a:pt x="0" y="0"/>
                </a:lnTo>
                <a:close/>
              </a:path>
            </a:pathLst>
          </a:custGeom>
          <a:blipFill>
            <a:blip r:embed="rId12"/>
            <a:stretch>
              <a:fillRect l="0" t="0" r="-105286" b="-41308"/>
            </a:stretch>
          </a:blipFill>
        </p:spPr>
      </p:sp>
      <p:sp>
        <p:nvSpPr>
          <p:cNvPr name="Freeform 8" id="8"/>
          <p:cNvSpPr/>
          <p:nvPr/>
        </p:nvSpPr>
        <p:spPr>
          <a:xfrm flipH="false" flipV="false" rot="0">
            <a:off x="1688552" y="7161778"/>
            <a:ext cx="12066311" cy="2096522"/>
          </a:xfrm>
          <a:custGeom>
            <a:avLst/>
            <a:gdLst/>
            <a:ahLst/>
            <a:cxnLst/>
            <a:rect r="r" b="b" t="t" l="l"/>
            <a:pathLst>
              <a:path h="2096522" w="12066311">
                <a:moveTo>
                  <a:pt x="0" y="0"/>
                </a:moveTo>
                <a:lnTo>
                  <a:pt x="12066311" y="0"/>
                </a:lnTo>
                <a:lnTo>
                  <a:pt x="12066311" y="2096522"/>
                </a:lnTo>
                <a:lnTo>
                  <a:pt x="0" y="2096522"/>
                </a:lnTo>
                <a:lnTo>
                  <a:pt x="0" y="0"/>
                </a:lnTo>
                <a:close/>
              </a:path>
            </a:pathLst>
          </a:custGeom>
          <a:blipFill>
            <a:blip r:embed="rId13"/>
            <a:stretch>
              <a:fillRect l="0" t="0" r="0" b="0"/>
            </a:stretch>
          </a:blipFill>
        </p:spPr>
      </p:sp>
      <p:sp>
        <p:nvSpPr>
          <p:cNvPr name="TextBox 9" id="9"/>
          <p:cNvSpPr txBox="true"/>
          <p:nvPr/>
        </p:nvSpPr>
        <p:spPr>
          <a:xfrm rot="0">
            <a:off x="1378834" y="370797"/>
            <a:ext cx="7427084" cy="5177790"/>
          </a:xfrm>
          <a:prstGeom prst="rect">
            <a:avLst/>
          </a:prstGeom>
        </p:spPr>
        <p:txBody>
          <a:bodyPr anchor="t" rtlCol="false" tIns="0" lIns="0" bIns="0" rIns="0">
            <a:spAutoFit/>
          </a:bodyPr>
          <a:lstStyle/>
          <a:p>
            <a:pPr algn="l">
              <a:lnSpc>
                <a:spcPts val="5879"/>
              </a:lnSpc>
              <a:spcBef>
                <a:spcPct val="0"/>
              </a:spcBef>
            </a:pPr>
            <a:r>
              <a:rPr lang="en-US" sz="4199">
                <a:solidFill>
                  <a:srgbClr val="537032"/>
                </a:solidFill>
                <a:latin typeface="Shrikhand"/>
                <a:ea typeface="Shrikhand"/>
                <a:cs typeface="Shrikhand"/>
                <a:sym typeface="Shrikhand"/>
              </a:rPr>
              <a:t>Order &amp; Payment Module</a:t>
            </a:r>
          </a:p>
          <a:p>
            <a:pPr algn="l">
              <a:lnSpc>
                <a:spcPts val="5039"/>
              </a:lnSpc>
              <a:spcBef>
                <a:spcPct val="0"/>
              </a:spcBef>
            </a:pPr>
            <a:r>
              <a:rPr lang="en-US" sz="3599">
                <a:solidFill>
                  <a:srgbClr val="000000"/>
                </a:solidFill>
                <a:latin typeface="Noto Serif Ethiopic Condensed"/>
                <a:ea typeface="Noto Serif Ethiopic Condensed"/>
                <a:cs typeface="Noto Serif Ethiopic Condensed"/>
                <a:sym typeface="Noto Serif Ethiopic Condensed"/>
              </a:rPr>
              <a:t>Clients select pizzas and add to cart</a:t>
            </a:r>
          </a:p>
          <a:p>
            <a:pPr algn="l">
              <a:lnSpc>
                <a:spcPts val="5039"/>
              </a:lnSpc>
              <a:spcBef>
                <a:spcPct val="0"/>
              </a:spcBef>
            </a:pPr>
            <a:r>
              <a:rPr lang="en-US" sz="3599">
                <a:solidFill>
                  <a:srgbClr val="000000"/>
                </a:solidFill>
                <a:latin typeface="Noto Serif Ethiopic Condensed"/>
                <a:ea typeface="Noto Serif Ethiopic Condensed"/>
                <a:cs typeface="Noto Serif Ethiopic Condensed"/>
                <a:sym typeface="Noto Serif Ethiopic Condensed"/>
              </a:rPr>
              <a:t>Place order with address and payment choice</a:t>
            </a:r>
          </a:p>
          <a:p>
            <a:pPr algn="l">
              <a:lnSpc>
                <a:spcPts val="5039"/>
              </a:lnSpc>
              <a:spcBef>
                <a:spcPct val="0"/>
              </a:spcBef>
            </a:pPr>
            <a:r>
              <a:rPr lang="en-US" sz="3599">
                <a:solidFill>
                  <a:srgbClr val="000000"/>
                </a:solidFill>
                <a:latin typeface="Noto Serif Ethiopic Condensed"/>
                <a:ea typeface="Noto Serif Ethiopic Condensed"/>
                <a:cs typeface="Noto Serif Ethiopic Condensed"/>
                <a:sym typeface="Noto Serif Ethiopic Condensed"/>
              </a:rPr>
              <a:t>Order Status: Pending → Delivered</a:t>
            </a:r>
          </a:p>
          <a:p>
            <a:pPr algn="l">
              <a:lnSpc>
                <a:spcPts val="5039"/>
              </a:lnSpc>
              <a:spcBef>
                <a:spcPct val="0"/>
              </a:spcBef>
            </a:pPr>
            <a:r>
              <a:rPr lang="en-US" sz="3599">
                <a:solidFill>
                  <a:srgbClr val="000000"/>
                </a:solidFill>
                <a:latin typeface="Noto Serif Ethiopic Condensed"/>
                <a:ea typeface="Noto Serif Ethiopic Condensed"/>
                <a:cs typeface="Noto Serif Ethiopic Condensed"/>
                <a:sym typeface="Noto Serif Ethiopic Condensed"/>
              </a:rPr>
              <a:t>Payment Options:</a:t>
            </a:r>
          </a:p>
          <a:p>
            <a:pPr algn="l">
              <a:lnSpc>
                <a:spcPts val="5039"/>
              </a:lnSpc>
              <a:spcBef>
                <a:spcPct val="0"/>
              </a:spcBef>
            </a:pPr>
            <a:r>
              <a:rPr lang="en-US" sz="3599">
                <a:solidFill>
                  <a:srgbClr val="000000"/>
                </a:solidFill>
                <a:latin typeface="Noto Serif Ethiopic Condensed"/>
                <a:ea typeface="Noto Serif Ethiopic Condensed"/>
                <a:cs typeface="Noto Serif Ethiopic Condensed"/>
                <a:sym typeface="Noto Serif Ethiopic Condensed"/>
              </a:rPr>
              <a:t>Cash on Delivery</a:t>
            </a:r>
          </a:p>
          <a:p>
            <a:pPr algn="l">
              <a:lnSpc>
                <a:spcPts val="5039"/>
              </a:lnSpc>
              <a:spcBef>
                <a:spcPct val="0"/>
              </a:spcBef>
            </a:pPr>
            <a:r>
              <a:rPr lang="en-US" sz="3599">
                <a:solidFill>
                  <a:srgbClr val="000000"/>
                </a:solidFill>
                <a:latin typeface="Noto Serif Ethiopic Condensed"/>
                <a:ea typeface="Noto Serif Ethiopic Condensed"/>
                <a:cs typeface="Noto Serif Ethiopic Condensed"/>
                <a:sym typeface="Noto Serif Ethiopic Condensed"/>
              </a:rPr>
              <a:t>Credit/Debit Card (simulated)</a:t>
            </a:r>
          </a:p>
        </p:txBody>
      </p:sp>
      <p:sp>
        <p:nvSpPr>
          <p:cNvPr name="Freeform 10" id="10"/>
          <p:cNvSpPr/>
          <p:nvPr/>
        </p:nvSpPr>
        <p:spPr>
          <a:xfrm flipH="false" flipV="false" rot="8526862">
            <a:off x="15477535" y="5463059"/>
            <a:ext cx="1514128" cy="1379233"/>
          </a:xfrm>
          <a:custGeom>
            <a:avLst/>
            <a:gdLst/>
            <a:ahLst/>
            <a:cxnLst/>
            <a:rect r="r" b="b" t="t" l="l"/>
            <a:pathLst>
              <a:path h="1379233" w="1514128">
                <a:moveTo>
                  <a:pt x="0" y="0"/>
                </a:moveTo>
                <a:lnTo>
                  <a:pt x="1514128" y="0"/>
                </a:lnTo>
                <a:lnTo>
                  <a:pt x="1514128" y="1379233"/>
                </a:lnTo>
                <a:lnTo>
                  <a:pt x="0" y="137923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15213610" y="-143918"/>
            <a:ext cx="2841313" cy="2817861"/>
          </a:xfrm>
          <a:custGeom>
            <a:avLst/>
            <a:gdLst/>
            <a:ahLst/>
            <a:cxnLst/>
            <a:rect r="r" b="b" t="t" l="l"/>
            <a:pathLst>
              <a:path h="2817861" w="2841313">
                <a:moveTo>
                  <a:pt x="0" y="0"/>
                </a:moveTo>
                <a:lnTo>
                  <a:pt x="2841313" y="0"/>
                </a:lnTo>
                <a:lnTo>
                  <a:pt x="2841313" y="2817861"/>
                </a:lnTo>
                <a:lnTo>
                  <a:pt x="0" y="281786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396958" y="7345602"/>
            <a:ext cx="4380680" cy="4533850"/>
          </a:xfrm>
          <a:custGeom>
            <a:avLst/>
            <a:gdLst/>
            <a:ahLst/>
            <a:cxnLst/>
            <a:rect r="r" b="b" t="t" l="l"/>
            <a:pathLst>
              <a:path h="4533850" w="4380680">
                <a:moveTo>
                  <a:pt x="0" y="0"/>
                </a:moveTo>
                <a:lnTo>
                  <a:pt x="4380680" y="0"/>
                </a:lnTo>
                <a:lnTo>
                  <a:pt x="4380680" y="4533850"/>
                </a:lnTo>
                <a:lnTo>
                  <a:pt x="0" y="45338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77238" y="-962744"/>
            <a:ext cx="4628571" cy="4114800"/>
          </a:xfrm>
          <a:custGeom>
            <a:avLst/>
            <a:gdLst/>
            <a:ahLst/>
            <a:cxnLst/>
            <a:rect r="r" b="b" t="t" l="l"/>
            <a:pathLst>
              <a:path h="4114800" w="4628571">
                <a:moveTo>
                  <a:pt x="0" y="0"/>
                </a:moveTo>
                <a:lnTo>
                  <a:pt x="4628571" y="0"/>
                </a:lnTo>
                <a:lnTo>
                  <a:pt x="462857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213308" y="176429"/>
            <a:ext cx="3846673" cy="2189106"/>
          </a:xfrm>
          <a:custGeom>
            <a:avLst/>
            <a:gdLst/>
            <a:ahLst/>
            <a:cxnLst/>
            <a:rect r="r" b="b" t="t" l="l"/>
            <a:pathLst>
              <a:path h="2189106" w="3846673">
                <a:moveTo>
                  <a:pt x="0" y="0"/>
                </a:moveTo>
                <a:lnTo>
                  <a:pt x="3846672" y="0"/>
                </a:lnTo>
                <a:lnTo>
                  <a:pt x="3846672" y="2189106"/>
                </a:lnTo>
                <a:lnTo>
                  <a:pt x="0" y="21891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800632" y="-1625265"/>
            <a:ext cx="3919316" cy="4567000"/>
          </a:xfrm>
          <a:custGeom>
            <a:avLst/>
            <a:gdLst/>
            <a:ahLst/>
            <a:cxnLst/>
            <a:rect r="r" b="b" t="t" l="l"/>
            <a:pathLst>
              <a:path h="4567000" w="3919316">
                <a:moveTo>
                  <a:pt x="0" y="0"/>
                </a:moveTo>
                <a:lnTo>
                  <a:pt x="3919316" y="0"/>
                </a:lnTo>
                <a:lnTo>
                  <a:pt x="3919316" y="4567000"/>
                </a:lnTo>
                <a:lnTo>
                  <a:pt x="0" y="45670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9291231" y="3422780"/>
            <a:ext cx="7968069" cy="3207924"/>
          </a:xfrm>
          <a:custGeom>
            <a:avLst/>
            <a:gdLst/>
            <a:ahLst/>
            <a:cxnLst/>
            <a:rect r="r" b="b" t="t" l="l"/>
            <a:pathLst>
              <a:path h="3207924" w="7968069">
                <a:moveTo>
                  <a:pt x="0" y="0"/>
                </a:moveTo>
                <a:lnTo>
                  <a:pt x="7968069" y="0"/>
                </a:lnTo>
                <a:lnTo>
                  <a:pt x="7968069" y="3207924"/>
                </a:lnTo>
                <a:lnTo>
                  <a:pt x="0" y="3207924"/>
                </a:lnTo>
                <a:lnTo>
                  <a:pt x="0" y="0"/>
                </a:lnTo>
                <a:close/>
              </a:path>
            </a:pathLst>
          </a:custGeom>
          <a:blipFill>
            <a:blip r:embed="rId10"/>
            <a:stretch>
              <a:fillRect l="0" t="0" r="0" b="0"/>
            </a:stretch>
          </a:blipFill>
        </p:spPr>
      </p:sp>
      <p:sp>
        <p:nvSpPr>
          <p:cNvPr name="Freeform 7" id="7"/>
          <p:cNvSpPr/>
          <p:nvPr/>
        </p:nvSpPr>
        <p:spPr>
          <a:xfrm flipH="false" flipV="false" rot="0">
            <a:off x="793382" y="3339108"/>
            <a:ext cx="7737395" cy="3608785"/>
          </a:xfrm>
          <a:custGeom>
            <a:avLst/>
            <a:gdLst/>
            <a:ahLst/>
            <a:cxnLst/>
            <a:rect r="r" b="b" t="t" l="l"/>
            <a:pathLst>
              <a:path h="3608785" w="7737395">
                <a:moveTo>
                  <a:pt x="0" y="0"/>
                </a:moveTo>
                <a:lnTo>
                  <a:pt x="7737395" y="0"/>
                </a:lnTo>
                <a:lnTo>
                  <a:pt x="7737395" y="3608784"/>
                </a:lnTo>
                <a:lnTo>
                  <a:pt x="0" y="3608784"/>
                </a:lnTo>
                <a:lnTo>
                  <a:pt x="0" y="0"/>
                </a:lnTo>
                <a:close/>
              </a:path>
            </a:pathLst>
          </a:custGeom>
          <a:blipFill>
            <a:blip r:embed="rId11"/>
            <a:stretch>
              <a:fillRect l="0" t="0" r="0" b="0"/>
            </a:stretch>
          </a:blipFill>
        </p:spPr>
      </p:sp>
      <p:sp>
        <p:nvSpPr>
          <p:cNvPr name="Freeform 8" id="8"/>
          <p:cNvSpPr/>
          <p:nvPr/>
        </p:nvSpPr>
        <p:spPr>
          <a:xfrm flipH="false" flipV="false" rot="0">
            <a:off x="3530315" y="7281267"/>
            <a:ext cx="11919638" cy="2711718"/>
          </a:xfrm>
          <a:custGeom>
            <a:avLst/>
            <a:gdLst/>
            <a:ahLst/>
            <a:cxnLst/>
            <a:rect r="r" b="b" t="t" l="l"/>
            <a:pathLst>
              <a:path h="2711718" w="11919638">
                <a:moveTo>
                  <a:pt x="0" y="0"/>
                </a:moveTo>
                <a:lnTo>
                  <a:pt x="11919638" y="0"/>
                </a:lnTo>
                <a:lnTo>
                  <a:pt x="11919638" y="2711718"/>
                </a:lnTo>
                <a:lnTo>
                  <a:pt x="0" y="2711718"/>
                </a:lnTo>
                <a:lnTo>
                  <a:pt x="0" y="0"/>
                </a:lnTo>
                <a:close/>
              </a:path>
            </a:pathLst>
          </a:custGeom>
          <a:blipFill>
            <a:blip r:embed="rId12"/>
            <a:stretch>
              <a:fillRect l="0" t="0" r="0" b="0"/>
            </a:stretch>
          </a:blipFill>
        </p:spPr>
      </p:sp>
      <p:sp>
        <p:nvSpPr>
          <p:cNvPr name="TextBox 9" id="9"/>
          <p:cNvSpPr txBox="true"/>
          <p:nvPr/>
        </p:nvSpPr>
        <p:spPr>
          <a:xfrm rot="0">
            <a:off x="793382" y="582035"/>
            <a:ext cx="13419926" cy="2505075"/>
          </a:xfrm>
          <a:prstGeom prst="rect">
            <a:avLst/>
          </a:prstGeom>
        </p:spPr>
        <p:txBody>
          <a:bodyPr anchor="t" rtlCol="false" tIns="0" lIns="0" bIns="0" rIns="0">
            <a:spAutoFit/>
          </a:bodyPr>
          <a:lstStyle/>
          <a:p>
            <a:pPr algn="l">
              <a:lnSpc>
                <a:spcPts val="5739"/>
              </a:lnSpc>
              <a:spcBef>
                <a:spcPct val="0"/>
              </a:spcBef>
            </a:pPr>
            <a:r>
              <a:rPr lang="en-US" sz="4099">
                <a:solidFill>
                  <a:srgbClr val="E56363"/>
                </a:solidFill>
                <a:latin typeface="Shrikhand"/>
                <a:ea typeface="Shrikhand"/>
                <a:cs typeface="Shrikhand"/>
                <a:sym typeface="Shrikhand"/>
              </a:rPr>
              <a:t>Feedback &amp; Contact Features</a:t>
            </a:r>
          </a:p>
          <a:p>
            <a:pPr algn="l">
              <a:lnSpc>
                <a:spcPts val="4759"/>
              </a:lnSpc>
              <a:spcBef>
                <a:spcPct val="0"/>
              </a:spcBef>
            </a:pPr>
            <a:r>
              <a:rPr lang="en-US" b="true" sz="3399">
                <a:solidFill>
                  <a:srgbClr val="9C3636"/>
                </a:solidFill>
                <a:latin typeface="Noto Serif Ethiopic Condensed Bold"/>
                <a:ea typeface="Noto Serif Ethiopic Condensed Bold"/>
                <a:cs typeface="Noto Serif Ethiopic Condensed Bold"/>
                <a:sym typeface="Noto Serif Ethiopic Condensed Bold"/>
              </a:rPr>
              <a:t>Feedback Form:</a:t>
            </a:r>
            <a:r>
              <a:rPr lang="en-US" sz="3399">
                <a:solidFill>
                  <a:srgbClr val="9C3636"/>
                </a:solidFill>
                <a:latin typeface="Noto Serif Ethiopic Condensed"/>
                <a:ea typeface="Noto Serif Ethiopic Condensed"/>
                <a:cs typeface="Noto Serif Ethiopic Condensed"/>
                <a:sym typeface="Noto Serif Ethiopic Condensed"/>
              </a:rPr>
              <a:t> Available on client dashboard</a:t>
            </a:r>
          </a:p>
          <a:p>
            <a:pPr algn="l">
              <a:lnSpc>
                <a:spcPts val="4759"/>
              </a:lnSpc>
              <a:spcBef>
                <a:spcPct val="0"/>
              </a:spcBef>
            </a:pPr>
            <a:r>
              <a:rPr lang="en-US" b="true" sz="3399">
                <a:solidFill>
                  <a:srgbClr val="9C3636"/>
                </a:solidFill>
                <a:latin typeface="Noto Serif Ethiopic Condensed Bold"/>
                <a:ea typeface="Noto Serif Ethiopic Condensed Bold"/>
                <a:cs typeface="Noto Serif Ethiopic Condensed Bold"/>
                <a:sym typeface="Noto Serif Ethiopic Condensed Bold"/>
              </a:rPr>
              <a:t>Contact Page: </a:t>
            </a:r>
            <a:r>
              <a:rPr lang="en-US" sz="3399">
                <a:solidFill>
                  <a:srgbClr val="9C3636"/>
                </a:solidFill>
                <a:latin typeface="Noto Serif Ethiopic Condensed"/>
                <a:ea typeface="Noto Serif Ethiopic Condensed"/>
                <a:cs typeface="Noto Serif Ethiopic Condensed"/>
                <a:sym typeface="Noto Serif Ethiopic Condensed"/>
              </a:rPr>
              <a:t>Users send inquiries or comments</a:t>
            </a:r>
          </a:p>
          <a:p>
            <a:pPr algn="l">
              <a:lnSpc>
                <a:spcPts val="4759"/>
              </a:lnSpc>
              <a:spcBef>
                <a:spcPct val="0"/>
              </a:spcBef>
            </a:pPr>
            <a:r>
              <a:rPr lang="en-US" b="true" sz="3399">
                <a:solidFill>
                  <a:srgbClr val="9C3636"/>
                </a:solidFill>
                <a:latin typeface="Noto Serif Ethiopic Condensed Bold"/>
                <a:ea typeface="Noto Serif Ethiopic Condensed Bold"/>
                <a:cs typeface="Noto Serif Ethiopic Condensed Bold"/>
                <a:sym typeface="Noto Serif Ethiopic Condensed Bold"/>
              </a:rPr>
              <a:t>Admin Panel: </a:t>
            </a:r>
            <a:r>
              <a:rPr lang="en-US" sz="3399">
                <a:solidFill>
                  <a:srgbClr val="9C3636"/>
                </a:solidFill>
                <a:latin typeface="Noto Serif Ethiopic Condensed"/>
                <a:ea typeface="Noto Serif Ethiopic Condensed"/>
                <a:cs typeface="Noto Serif Ethiopic Condensed"/>
                <a:sym typeface="Noto Serif Ethiopic Condensed"/>
              </a:rPr>
              <a:t>Admins view and manage all feedback and contact requests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396958" y="7345602"/>
            <a:ext cx="4380680" cy="4533850"/>
          </a:xfrm>
          <a:custGeom>
            <a:avLst/>
            <a:gdLst/>
            <a:ahLst/>
            <a:cxnLst/>
            <a:rect r="r" b="b" t="t" l="l"/>
            <a:pathLst>
              <a:path h="4533850" w="4380680">
                <a:moveTo>
                  <a:pt x="0" y="0"/>
                </a:moveTo>
                <a:lnTo>
                  <a:pt x="4380680" y="0"/>
                </a:lnTo>
                <a:lnTo>
                  <a:pt x="4380680" y="4533850"/>
                </a:lnTo>
                <a:lnTo>
                  <a:pt x="0" y="45338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77238" y="-962744"/>
            <a:ext cx="4628571" cy="4114800"/>
          </a:xfrm>
          <a:custGeom>
            <a:avLst/>
            <a:gdLst/>
            <a:ahLst/>
            <a:cxnLst/>
            <a:rect r="r" b="b" t="t" l="l"/>
            <a:pathLst>
              <a:path h="4114800" w="4628571">
                <a:moveTo>
                  <a:pt x="0" y="0"/>
                </a:moveTo>
                <a:lnTo>
                  <a:pt x="4628571" y="0"/>
                </a:lnTo>
                <a:lnTo>
                  <a:pt x="462857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213308" y="176429"/>
            <a:ext cx="3846673" cy="2189106"/>
          </a:xfrm>
          <a:custGeom>
            <a:avLst/>
            <a:gdLst/>
            <a:ahLst/>
            <a:cxnLst/>
            <a:rect r="r" b="b" t="t" l="l"/>
            <a:pathLst>
              <a:path h="2189106" w="3846673">
                <a:moveTo>
                  <a:pt x="0" y="0"/>
                </a:moveTo>
                <a:lnTo>
                  <a:pt x="3846672" y="0"/>
                </a:lnTo>
                <a:lnTo>
                  <a:pt x="3846672" y="2189106"/>
                </a:lnTo>
                <a:lnTo>
                  <a:pt x="0" y="21891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18684" y="-1073397"/>
            <a:ext cx="2908251" cy="3388852"/>
          </a:xfrm>
          <a:custGeom>
            <a:avLst/>
            <a:gdLst/>
            <a:ahLst/>
            <a:cxnLst/>
            <a:rect r="r" b="b" t="t" l="l"/>
            <a:pathLst>
              <a:path h="3388852" w="2908251">
                <a:moveTo>
                  <a:pt x="0" y="0"/>
                </a:moveTo>
                <a:lnTo>
                  <a:pt x="2908251" y="0"/>
                </a:lnTo>
                <a:lnTo>
                  <a:pt x="2908251" y="3388852"/>
                </a:lnTo>
                <a:lnTo>
                  <a:pt x="0" y="33888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9373123" y="3748604"/>
            <a:ext cx="8547799" cy="4134998"/>
          </a:xfrm>
          <a:custGeom>
            <a:avLst/>
            <a:gdLst/>
            <a:ahLst/>
            <a:cxnLst/>
            <a:rect r="r" b="b" t="t" l="l"/>
            <a:pathLst>
              <a:path h="4134998" w="8547799">
                <a:moveTo>
                  <a:pt x="0" y="0"/>
                </a:moveTo>
                <a:lnTo>
                  <a:pt x="8547800" y="0"/>
                </a:lnTo>
                <a:lnTo>
                  <a:pt x="8547800" y="4134998"/>
                </a:lnTo>
                <a:lnTo>
                  <a:pt x="0" y="4134998"/>
                </a:lnTo>
                <a:lnTo>
                  <a:pt x="0" y="0"/>
                </a:lnTo>
                <a:close/>
              </a:path>
            </a:pathLst>
          </a:custGeom>
          <a:blipFill>
            <a:blip r:embed="rId10"/>
            <a:stretch>
              <a:fillRect l="0" t="0" r="0" b="0"/>
            </a:stretch>
          </a:blipFill>
        </p:spPr>
      </p:sp>
      <p:sp>
        <p:nvSpPr>
          <p:cNvPr name="TextBox 7" id="7"/>
          <p:cNvSpPr txBox="true"/>
          <p:nvPr/>
        </p:nvSpPr>
        <p:spPr>
          <a:xfrm rot="0">
            <a:off x="315345" y="2520087"/>
            <a:ext cx="8828655" cy="6443707"/>
          </a:xfrm>
          <a:prstGeom prst="rect">
            <a:avLst/>
          </a:prstGeom>
        </p:spPr>
        <p:txBody>
          <a:bodyPr anchor="t" rtlCol="false" tIns="0" lIns="0" bIns="0" rIns="0">
            <a:spAutoFit/>
          </a:bodyPr>
          <a:lstStyle/>
          <a:p>
            <a:pPr algn="l">
              <a:lnSpc>
                <a:spcPts val="5162"/>
              </a:lnSpc>
              <a:spcBef>
                <a:spcPct val="0"/>
              </a:spcBef>
            </a:pPr>
            <a:r>
              <a:rPr lang="en-US" b="true" sz="3687">
                <a:solidFill>
                  <a:srgbClr val="C48590"/>
                </a:solidFill>
                <a:latin typeface="Noto Serif Ethiopic Condensed Bold"/>
                <a:ea typeface="Noto Serif Ethiopic Condensed Bold"/>
                <a:cs typeface="Noto Serif Ethiopic Condensed Bold"/>
                <a:sym typeface="Noto Serif Ethiopic Condensed Bold"/>
              </a:rPr>
              <a:t>5 JOIN Query Examples:</a:t>
            </a:r>
          </a:p>
          <a:p>
            <a:pPr algn="l">
              <a:lnSpc>
                <a:spcPts val="5162"/>
              </a:lnSpc>
              <a:spcBef>
                <a:spcPct val="0"/>
              </a:spcBef>
            </a:pPr>
            <a:r>
              <a:rPr lang="en-US" b="true" sz="3687">
                <a:solidFill>
                  <a:srgbClr val="FF9D38"/>
                </a:solidFill>
                <a:latin typeface="Noto Serif Ethiopic Condensed Bold"/>
                <a:ea typeface="Noto Serif Ethiopic Condensed Bold"/>
                <a:cs typeface="Noto Serif Ethiopic Condensed Bold"/>
                <a:sym typeface="Noto Serif Ethiopic Condensed Bold"/>
              </a:rPr>
              <a:t>orders + customers</a:t>
            </a:r>
            <a:r>
              <a:rPr lang="en-US" sz="3687">
                <a:solidFill>
                  <a:srgbClr val="FF9D38"/>
                </a:solidFill>
                <a:latin typeface="Noto Serif Ethiopic Condensed"/>
                <a:ea typeface="Noto Serif Ethiopic Condensed"/>
                <a:cs typeface="Noto Serif Ethiopic Condensed"/>
                <a:sym typeface="Noto Serif Ethiopic Condensed"/>
              </a:rPr>
              <a:t> → See who placed which order</a:t>
            </a:r>
          </a:p>
          <a:p>
            <a:pPr algn="l">
              <a:lnSpc>
                <a:spcPts val="5162"/>
              </a:lnSpc>
              <a:spcBef>
                <a:spcPct val="0"/>
              </a:spcBef>
            </a:pPr>
            <a:r>
              <a:rPr lang="en-US" b="true" sz="3687">
                <a:solidFill>
                  <a:srgbClr val="FF9D38"/>
                </a:solidFill>
                <a:latin typeface="Noto Serif Ethiopic Condensed Bold"/>
                <a:ea typeface="Noto Serif Ethiopic Condensed Bold"/>
                <a:cs typeface="Noto Serif Ethiopic Condensed Bold"/>
                <a:sym typeface="Noto Serif Ethiopic Condensed Bold"/>
              </a:rPr>
              <a:t>payments + orders + customers </a:t>
            </a:r>
            <a:r>
              <a:rPr lang="en-US" sz="3687">
                <a:solidFill>
                  <a:srgbClr val="FF9D38"/>
                </a:solidFill>
                <a:latin typeface="Noto Serif Ethiopic Condensed"/>
                <a:ea typeface="Noto Serif Ethiopic Condensed"/>
                <a:cs typeface="Noto Serif Ethiopic Condensed"/>
                <a:sym typeface="Noto Serif Ethiopic Condensed"/>
              </a:rPr>
              <a:t>→ Payment tracking</a:t>
            </a:r>
          </a:p>
          <a:p>
            <a:pPr algn="l">
              <a:lnSpc>
                <a:spcPts val="5162"/>
              </a:lnSpc>
              <a:spcBef>
                <a:spcPct val="0"/>
              </a:spcBef>
            </a:pPr>
            <a:r>
              <a:rPr lang="en-US" b="true" sz="3687">
                <a:solidFill>
                  <a:srgbClr val="FF9D38"/>
                </a:solidFill>
                <a:latin typeface="Noto Serif Ethiopic Condensed Bold"/>
                <a:ea typeface="Noto Serif Ethiopic Condensed Bold"/>
                <a:cs typeface="Noto Serif Ethiopic Condensed Bold"/>
                <a:sym typeface="Noto Serif Ethiopic Condensed Bold"/>
              </a:rPr>
              <a:t>feedback + customers →</a:t>
            </a:r>
            <a:r>
              <a:rPr lang="en-US" sz="3687">
                <a:solidFill>
                  <a:srgbClr val="FF9D38"/>
                </a:solidFill>
                <a:latin typeface="Noto Serif Ethiopic Condensed"/>
                <a:ea typeface="Noto Serif Ethiopic Condensed"/>
                <a:cs typeface="Noto Serif Ethiopic Condensed"/>
                <a:sym typeface="Noto Serif Ethiopic Condensed"/>
              </a:rPr>
              <a:t> Match feedback with users</a:t>
            </a:r>
          </a:p>
          <a:p>
            <a:pPr algn="l">
              <a:lnSpc>
                <a:spcPts val="5162"/>
              </a:lnSpc>
              <a:spcBef>
                <a:spcPct val="0"/>
              </a:spcBef>
            </a:pPr>
            <a:r>
              <a:rPr lang="en-US" b="true" sz="3687">
                <a:solidFill>
                  <a:srgbClr val="FF9D38"/>
                </a:solidFill>
                <a:latin typeface="Noto Serif Ethiopic Condensed Bold"/>
                <a:ea typeface="Noto Serif Ethiopic Condensed Bold"/>
                <a:cs typeface="Noto Serif Ethiopic Condensed Bold"/>
                <a:sym typeface="Noto Serif Ethiopic Condensed Bold"/>
              </a:rPr>
              <a:t>orders + pizzas →</a:t>
            </a:r>
            <a:r>
              <a:rPr lang="en-US" sz="3687">
                <a:solidFill>
                  <a:srgbClr val="FF9D38"/>
                </a:solidFill>
                <a:latin typeface="Noto Serif Ethiopic Condensed"/>
                <a:ea typeface="Noto Serif Ethiopic Condensed"/>
                <a:cs typeface="Noto Serif Ethiopic Condensed"/>
                <a:sym typeface="Noto Serif Ethiopic Condensed"/>
              </a:rPr>
              <a:t> Get order item details</a:t>
            </a:r>
          </a:p>
          <a:p>
            <a:pPr algn="l">
              <a:lnSpc>
                <a:spcPts val="5162"/>
              </a:lnSpc>
              <a:spcBef>
                <a:spcPct val="0"/>
              </a:spcBef>
            </a:pPr>
            <a:r>
              <a:rPr lang="en-US" b="true" sz="3687">
                <a:solidFill>
                  <a:srgbClr val="FF9D38"/>
                </a:solidFill>
                <a:latin typeface="Noto Serif Ethiopic Condensed Bold"/>
                <a:ea typeface="Noto Serif Ethiopic Condensed Bold"/>
                <a:cs typeface="Noto Serif Ethiopic Condensed Bold"/>
                <a:sym typeface="Noto Serif Ethiopic Condensed Bold"/>
              </a:rPr>
              <a:t>orders + payments →</a:t>
            </a:r>
            <a:r>
              <a:rPr lang="en-US" sz="3687">
                <a:solidFill>
                  <a:srgbClr val="FF9D38"/>
                </a:solidFill>
                <a:latin typeface="Noto Serif Ethiopic Condensed"/>
                <a:ea typeface="Noto Serif Ethiopic Condensed"/>
                <a:cs typeface="Noto Serif Ethiopic Condensed"/>
                <a:sym typeface="Noto Serif Ethiopic Condensed"/>
              </a:rPr>
              <a:t> Check payment for each order</a:t>
            </a:r>
          </a:p>
        </p:txBody>
      </p:sp>
      <p:sp>
        <p:nvSpPr>
          <p:cNvPr name="TextBox 8" id="8"/>
          <p:cNvSpPr txBox="true"/>
          <p:nvPr/>
        </p:nvSpPr>
        <p:spPr>
          <a:xfrm rot="0">
            <a:off x="469905" y="866546"/>
            <a:ext cx="11210925" cy="910591"/>
          </a:xfrm>
          <a:prstGeom prst="rect">
            <a:avLst/>
          </a:prstGeom>
        </p:spPr>
        <p:txBody>
          <a:bodyPr anchor="t" rtlCol="false" tIns="0" lIns="0" bIns="0" rIns="0">
            <a:spAutoFit/>
          </a:bodyPr>
          <a:lstStyle/>
          <a:p>
            <a:pPr algn="ctr">
              <a:lnSpc>
                <a:spcPts val="7559"/>
              </a:lnSpc>
              <a:spcBef>
                <a:spcPct val="0"/>
              </a:spcBef>
            </a:pPr>
            <a:r>
              <a:rPr lang="en-US" sz="5399">
                <a:solidFill>
                  <a:srgbClr val="B26978"/>
                </a:solidFill>
                <a:latin typeface="Shrikhand"/>
                <a:ea typeface="Shrikhand"/>
                <a:cs typeface="Shrikhand"/>
                <a:sym typeface="Shrikhand"/>
              </a:rPr>
              <a:t>JOIN Queries &amp; SQL Integration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396958" y="7345602"/>
            <a:ext cx="4380680" cy="4533850"/>
          </a:xfrm>
          <a:custGeom>
            <a:avLst/>
            <a:gdLst/>
            <a:ahLst/>
            <a:cxnLst/>
            <a:rect r="r" b="b" t="t" l="l"/>
            <a:pathLst>
              <a:path h="4533850" w="4380680">
                <a:moveTo>
                  <a:pt x="0" y="0"/>
                </a:moveTo>
                <a:lnTo>
                  <a:pt x="4380680" y="0"/>
                </a:lnTo>
                <a:lnTo>
                  <a:pt x="4380680" y="4533850"/>
                </a:lnTo>
                <a:lnTo>
                  <a:pt x="0" y="45338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77238" y="-962744"/>
            <a:ext cx="4628571" cy="4114800"/>
          </a:xfrm>
          <a:custGeom>
            <a:avLst/>
            <a:gdLst/>
            <a:ahLst/>
            <a:cxnLst/>
            <a:rect r="r" b="b" t="t" l="l"/>
            <a:pathLst>
              <a:path h="4114800" w="4628571">
                <a:moveTo>
                  <a:pt x="0" y="0"/>
                </a:moveTo>
                <a:lnTo>
                  <a:pt x="4628571" y="0"/>
                </a:lnTo>
                <a:lnTo>
                  <a:pt x="462857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213308" y="176429"/>
            <a:ext cx="3846673" cy="2189106"/>
          </a:xfrm>
          <a:custGeom>
            <a:avLst/>
            <a:gdLst/>
            <a:ahLst/>
            <a:cxnLst/>
            <a:rect r="r" b="b" t="t" l="l"/>
            <a:pathLst>
              <a:path h="2189106" w="3846673">
                <a:moveTo>
                  <a:pt x="0" y="0"/>
                </a:moveTo>
                <a:lnTo>
                  <a:pt x="3846672" y="0"/>
                </a:lnTo>
                <a:lnTo>
                  <a:pt x="3846672" y="2189106"/>
                </a:lnTo>
                <a:lnTo>
                  <a:pt x="0" y="21891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800632" y="-1625265"/>
            <a:ext cx="3919316" cy="4567000"/>
          </a:xfrm>
          <a:custGeom>
            <a:avLst/>
            <a:gdLst/>
            <a:ahLst/>
            <a:cxnLst/>
            <a:rect r="r" b="b" t="t" l="l"/>
            <a:pathLst>
              <a:path h="4567000" w="3919316">
                <a:moveTo>
                  <a:pt x="0" y="0"/>
                </a:moveTo>
                <a:lnTo>
                  <a:pt x="3919316" y="0"/>
                </a:lnTo>
                <a:lnTo>
                  <a:pt x="3919316" y="4567000"/>
                </a:lnTo>
                <a:lnTo>
                  <a:pt x="0" y="45670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1206893" y="1678720"/>
            <a:ext cx="16277897" cy="6218990"/>
          </a:xfrm>
          <a:prstGeom prst="rect">
            <a:avLst/>
          </a:prstGeom>
        </p:spPr>
        <p:txBody>
          <a:bodyPr anchor="t" rtlCol="false" tIns="0" lIns="0" bIns="0" rIns="0">
            <a:spAutoFit/>
          </a:bodyPr>
          <a:lstStyle/>
          <a:p>
            <a:pPr algn="l">
              <a:lnSpc>
                <a:spcPts val="8763"/>
              </a:lnSpc>
              <a:spcBef>
                <a:spcPct val="0"/>
              </a:spcBef>
            </a:pPr>
            <a:r>
              <a:rPr lang="en-US" sz="6259">
                <a:solidFill>
                  <a:srgbClr val="0F2F76"/>
                </a:solidFill>
                <a:latin typeface="Shrikhand"/>
                <a:ea typeface="Shrikhand"/>
                <a:cs typeface="Shrikhand"/>
                <a:sym typeface="Shrikhand"/>
              </a:rPr>
              <a:t>Security &amp; Validation Techniques</a:t>
            </a:r>
          </a:p>
          <a:p>
            <a:pPr algn="l">
              <a:lnSpc>
                <a:spcPts val="7586"/>
              </a:lnSpc>
              <a:spcBef>
                <a:spcPct val="0"/>
              </a:spcBef>
            </a:pPr>
          </a:p>
          <a:p>
            <a:pPr algn="l">
              <a:lnSpc>
                <a:spcPts val="6657"/>
              </a:lnSpc>
              <a:spcBef>
                <a:spcPct val="0"/>
              </a:spcBef>
            </a:pPr>
            <a:r>
              <a:rPr lang="en-US" b="true" sz="4755">
                <a:solidFill>
                  <a:srgbClr val="428CE2"/>
                </a:solidFill>
                <a:latin typeface="Noto Serif Ethiopic Condensed Bold"/>
                <a:ea typeface="Noto Serif Ethiopic Condensed Bold"/>
                <a:cs typeface="Noto Serif Ethiopic Condensed Bold"/>
                <a:sym typeface="Noto Serif Ethiopic Condensed Bold"/>
              </a:rPr>
              <a:t>Form Validation:</a:t>
            </a:r>
            <a:r>
              <a:rPr lang="en-US" sz="4755">
                <a:solidFill>
                  <a:srgbClr val="428CE2"/>
                </a:solidFill>
                <a:latin typeface="Noto Serif Ethiopic Condensed"/>
                <a:ea typeface="Noto Serif Ethiopic Condensed"/>
                <a:cs typeface="Noto Serif Ethiopic Condensed"/>
                <a:sym typeface="Noto Serif Ethiopic Condensed"/>
              </a:rPr>
              <a:t> Email format, required fields</a:t>
            </a:r>
          </a:p>
          <a:p>
            <a:pPr algn="l">
              <a:lnSpc>
                <a:spcPts val="6657"/>
              </a:lnSpc>
              <a:spcBef>
                <a:spcPct val="0"/>
              </a:spcBef>
            </a:pPr>
            <a:r>
              <a:rPr lang="en-US" b="true" sz="4755">
                <a:solidFill>
                  <a:srgbClr val="428CE2"/>
                </a:solidFill>
                <a:latin typeface="Noto Serif Ethiopic Condensed Bold"/>
                <a:ea typeface="Noto Serif Ethiopic Condensed Bold"/>
                <a:cs typeface="Noto Serif Ethiopic Condensed Bold"/>
                <a:sym typeface="Noto Serif Ethiopic Condensed Bold"/>
              </a:rPr>
              <a:t>Password Hashing:</a:t>
            </a:r>
            <a:r>
              <a:rPr lang="en-US" sz="4755">
                <a:solidFill>
                  <a:srgbClr val="428CE2"/>
                </a:solidFill>
                <a:latin typeface="Noto Serif Ethiopic Condensed"/>
                <a:ea typeface="Noto Serif Ethiopic Condensed"/>
                <a:cs typeface="Noto Serif Ethiopic Condensed"/>
                <a:sym typeface="Noto Serif Ethiopic Condensed"/>
              </a:rPr>
              <a:t> Using password_hash() and password_verify()</a:t>
            </a:r>
          </a:p>
          <a:p>
            <a:pPr algn="l">
              <a:lnSpc>
                <a:spcPts val="6657"/>
              </a:lnSpc>
              <a:spcBef>
                <a:spcPct val="0"/>
              </a:spcBef>
            </a:pPr>
            <a:r>
              <a:rPr lang="en-US" b="true" sz="4755">
                <a:solidFill>
                  <a:srgbClr val="428CE2"/>
                </a:solidFill>
                <a:latin typeface="Noto Serif Ethiopic Condensed Bold"/>
                <a:ea typeface="Noto Serif Ethiopic Condensed Bold"/>
                <a:cs typeface="Noto Serif Ethiopic Condensed Bold"/>
                <a:sym typeface="Noto Serif Ethiopic Condensed Bold"/>
              </a:rPr>
              <a:t>SQL Injection Prevention: </a:t>
            </a:r>
            <a:r>
              <a:rPr lang="en-US" sz="4755">
                <a:solidFill>
                  <a:srgbClr val="428CE2"/>
                </a:solidFill>
                <a:latin typeface="Noto Serif Ethiopic Condensed"/>
                <a:ea typeface="Noto Serif Ethiopic Condensed"/>
                <a:cs typeface="Noto Serif Ethiopic Condensed"/>
                <a:sym typeface="Noto Serif Ethiopic Condensed"/>
              </a:rPr>
              <a:t>Prepared statements used in all database queries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false" flipV="false" rot="0">
            <a:off x="14173200" y="-63776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20907" y="7151359"/>
            <a:ext cx="6296233" cy="3523267"/>
          </a:xfrm>
          <a:custGeom>
            <a:avLst/>
            <a:gdLst/>
            <a:ahLst/>
            <a:cxnLst/>
            <a:rect r="r" b="b" t="t" l="l"/>
            <a:pathLst>
              <a:path h="3523267" w="6296233">
                <a:moveTo>
                  <a:pt x="0" y="0"/>
                </a:moveTo>
                <a:lnTo>
                  <a:pt x="6296233" y="0"/>
                </a:lnTo>
                <a:lnTo>
                  <a:pt x="6296233" y="3523267"/>
                </a:lnTo>
                <a:lnTo>
                  <a:pt x="0" y="3523267"/>
                </a:lnTo>
                <a:lnTo>
                  <a:pt x="0" y="0"/>
                </a:lnTo>
                <a:close/>
              </a:path>
            </a:pathLst>
          </a:custGeom>
          <a:blipFill>
            <a:blip r:embed="rId4"/>
            <a:stretch>
              <a:fillRect l="0" t="0" r="0" b="0"/>
            </a:stretch>
          </a:blipFill>
        </p:spPr>
      </p:sp>
      <p:sp>
        <p:nvSpPr>
          <p:cNvPr name="Freeform 4" id="4"/>
          <p:cNvSpPr/>
          <p:nvPr/>
        </p:nvSpPr>
        <p:spPr>
          <a:xfrm flipH="false" flipV="false" rot="0">
            <a:off x="16247627" y="6559826"/>
            <a:ext cx="2040373" cy="4114800"/>
          </a:xfrm>
          <a:custGeom>
            <a:avLst/>
            <a:gdLst/>
            <a:ahLst/>
            <a:cxnLst/>
            <a:rect r="r" b="b" t="t" l="l"/>
            <a:pathLst>
              <a:path h="4114800" w="2040373">
                <a:moveTo>
                  <a:pt x="0" y="0"/>
                </a:moveTo>
                <a:lnTo>
                  <a:pt x="2040373" y="0"/>
                </a:lnTo>
                <a:lnTo>
                  <a:pt x="2040373"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2651245" y="1583937"/>
            <a:ext cx="15422682" cy="7964890"/>
          </a:xfrm>
          <a:prstGeom prst="rect">
            <a:avLst/>
          </a:prstGeom>
        </p:spPr>
        <p:txBody>
          <a:bodyPr anchor="t" rtlCol="false" tIns="0" lIns="0" bIns="0" rIns="0">
            <a:spAutoFit/>
          </a:bodyPr>
          <a:lstStyle/>
          <a:p>
            <a:pPr algn="just">
              <a:lnSpc>
                <a:spcPts val="5237"/>
              </a:lnSpc>
              <a:spcBef>
                <a:spcPct val="0"/>
              </a:spcBef>
            </a:pPr>
            <a:r>
              <a:rPr lang="en-US" b="true" sz="3741">
                <a:solidFill>
                  <a:srgbClr val="74292B"/>
                </a:solidFill>
                <a:latin typeface="Noto Serif Ethiopic Condensed Bold"/>
                <a:ea typeface="Noto Serif Ethiopic Condensed Bold"/>
                <a:cs typeface="Noto Serif Ethiopic Condensed Bold"/>
                <a:sym typeface="Noto Serif Ethiopic Condensed Bold"/>
              </a:rPr>
              <a:t>What we achieved:</a:t>
            </a:r>
          </a:p>
          <a:p>
            <a:pPr algn="just" marL="807689" indent="-403845" lvl="1">
              <a:lnSpc>
                <a:spcPts val="5237"/>
              </a:lnSpc>
              <a:buFont typeface="Arial"/>
              <a:buChar char="•"/>
            </a:pPr>
            <a:r>
              <a:rPr lang="en-US" sz="3741">
                <a:solidFill>
                  <a:srgbClr val="B26978"/>
                </a:solidFill>
                <a:latin typeface="Noto Serif Ethiopic Condensed"/>
                <a:ea typeface="Noto Serif Ethiopic Condensed"/>
                <a:cs typeface="Noto Serif Ethiopic Condensed"/>
                <a:sym typeface="Noto Serif Ethiopic Condensed"/>
              </a:rPr>
              <a:t>Built a complete pizza ordering system</a:t>
            </a:r>
          </a:p>
          <a:p>
            <a:pPr algn="just" marL="807689" indent="-403845" lvl="1">
              <a:lnSpc>
                <a:spcPts val="5237"/>
              </a:lnSpc>
              <a:buFont typeface="Arial"/>
              <a:buChar char="•"/>
            </a:pPr>
            <a:r>
              <a:rPr lang="en-US" sz="3741">
                <a:solidFill>
                  <a:srgbClr val="B26978"/>
                </a:solidFill>
                <a:latin typeface="Noto Serif Ethiopic Condensed"/>
                <a:ea typeface="Noto Serif Ethiopic Condensed"/>
                <a:cs typeface="Noto Serif Ethiopic Condensed"/>
                <a:sym typeface="Noto Serif Ethiopic Condensed"/>
              </a:rPr>
              <a:t>Integrated admin and client roles</a:t>
            </a:r>
          </a:p>
          <a:p>
            <a:pPr algn="just" marL="807689" indent="-403845" lvl="1">
              <a:lnSpc>
                <a:spcPts val="5237"/>
              </a:lnSpc>
              <a:buFont typeface="Arial"/>
              <a:buChar char="•"/>
            </a:pPr>
            <a:r>
              <a:rPr lang="en-US" sz="3741">
                <a:solidFill>
                  <a:srgbClr val="B26978"/>
                </a:solidFill>
                <a:latin typeface="Noto Serif Ethiopic Condensed"/>
                <a:ea typeface="Noto Serif Ethiopic Condensed"/>
                <a:cs typeface="Noto Serif Ethiopic Condensed"/>
                <a:sym typeface="Noto Serif Ethiopic Condensed"/>
              </a:rPr>
              <a:t>Implemented secure login and payment system</a:t>
            </a:r>
          </a:p>
          <a:p>
            <a:pPr algn="just">
              <a:lnSpc>
                <a:spcPts val="5237"/>
              </a:lnSpc>
              <a:spcBef>
                <a:spcPct val="0"/>
              </a:spcBef>
            </a:pPr>
            <a:r>
              <a:rPr lang="en-US" b="true" sz="3741">
                <a:solidFill>
                  <a:srgbClr val="0F2F76"/>
                </a:solidFill>
                <a:latin typeface="Noto Serif Ethiopic Condensed Bold"/>
                <a:ea typeface="Noto Serif Ethiopic Condensed Bold"/>
                <a:cs typeface="Noto Serif Ethiopic Condensed Bold"/>
                <a:sym typeface="Noto Serif Ethiopic Condensed Bold"/>
              </a:rPr>
              <a:t>Challenges Faced:</a:t>
            </a:r>
          </a:p>
          <a:p>
            <a:pPr algn="just" marL="807689" indent="-403845" lvl="1">
              <a:lnSpc>
                <a:spcPts val="5237"/>
              </a:lnSpc>
              <a:buFont typeface="Arial"/>
              <a:buChar char="•"/>
            </a:pPr>
            <a:r>
              <a:rPr lang="en-US" sz="3741">
                <a:solidFill>
                  <a:srgbClr val="428CE2"/>
                </a:solidFill>
                <a:latin typeface="Noto Serif Ethiopic Condensed"/>
                <a:ea typeface="Noto Serif Ethiopic Condensed"/>
                <a:cs typeface="Noto Serif Ethiopic Condensed"/>
                <a:sym typeface="Noto Serif Ethiopic Condensed"/>
              </a:rPr>
              <a:t>Managing session timeouts</a:t>
            </a:r>
          </a:p>
          <a:p>
            <a:pPr algn="just" marL="807689" indent="-403845" lvl="1">
              <a:lnSpc>
                <a:spcPts val="5237"/>
              </a:lnSpc>
              <a:buFont typeface="Arial"/>
              <a:buChar char="•"/>
            </a:pPr>
            <a:r>
              <a:rPr lang="en-US" sz="3741">
                <a:solidFill>
                  <a:srgbClr val="428CE2"/>
                </a:solidFill>
                <a:latin typeface="Noto Serif Ethiopic Condensed"/>
                <a:ea typeface="Noto Serif Ethiopic Condensed"/>
                <a:cs typeface="Noto Serif Ethiopic Condensed"/>
                <a:sym typeface="Noto Serif Ethiopic Condensed"/>
              </a:rPr>
              <a:t>JOIN query complexity</a:t>
            </a:r>
          </a:p>
          <a:p>
            <a:pPr algn="just" marL="807689" indent="-403845" lvl="1">
              <a:lnSpc>
                <a:spcPts val="5237"/>
              </a:lnSpc>
              <a:buFont typeface="Arial"/>
              <a:buChar char="•"/>
            </a:pPr>
            <a:r>
              <a:rPr lang="en-US" sz="3741">
                <a:solidFill>
                  <a:srgbClr val="428CE2"/>
                </a:solidFill>
                <a:latin typeface="Noto Serif Ethiopic Condensed"/>
                <a:ea typeface="Noto Serif Ethiopic Condensed"/>
                <a:cs typeface="Noto Serif Ethiopic Condensed"/>
                <a:sym typeface="Noto Serif Ethiopic Condensed"/>
              </a:rPr>
              <a:t>Validation and error handling</a:t>
            </a:r>
          </a:p>
          <a:p>
            <a:pPr algn="just">
              <a:lnSpc>
                <a:spcPts val="5237"/>
              </a:lnSpc>
              <a:spcBef>
                <a:spcPct val="0"/>
              </a:spcBef>
            </a:pPr>
            <a:r>
              <a:rPr lang="en-US" b="true" sz="3741">
                <a:solidFill>
                  <a:srgbClr val="9C3636"/>
                </a:solidFill>
                <a:latin typeface="Noto Serif Ethiopic Condensed Bold"/>
                <a:ea typeface="Noto Serif Ethiopic Condensed Bold"/>
                <a:cs typeface="Noto Serif Ethiopic Condensed Bold"/>
                <a:sym typeface="Noto Serif Ethiopic Condensed Bold"/>
              </a:rPr>
              <a:t>What we learned:</a:t>
            </a:r>
          </a:p>
          <a:p>
            <a:pPr algn="just" marL="807689" indent="-403845" lvl="1">
              <a:lnSpc>
                <a:spcPts val="5237"/>
              </a:lnSpc>
              <a:buFont typeface="Arial"/>
              <a:buChar char="•"/>
            </a:pPr>
            <a:r>
              <a:rPr lang="en-US" sz="3741">
                <a:solidFill>
                  <a:srgbClr val="E56363"/>
                </a:solidFill>
                <a:latin typeface="Noto Serif Ethiopic Condensed"/>
                <a:ea typeface="Noto Serif Ethiopic Condensed"/>
                <a:cs typeface="Noto Serif Ethiopic Condensed"/>
                <a:sym typeface="Noto Serif Ethiopic Condensed"/>
              </a:rPr>
              <a:t>Full-stack development in PHP &amp; MySQL</a:t>
            </a:r>
          </a:p>
          <a:p>
            <a:pPr algn="just" marL="807689" indent="-403845" lvl="1">
              <a:lnSpc>
                <a:spcPts val="5237"/>
              </a:lnSpc>
              <a:buFont typeface="Arial"/>
              <a:buChar char="•"/>
            </a:pPr>
            <a:r>
              <a:rPr lang="en-US" sz="3741">
                <a:solidFill>
                  <a:srgbClr val="E56363"/>
                </a:solidFill>
                <a:latin typeface="Noto Serif Ethiopic Condensed"/>
                <a:ea typeface="Noto Serif Ethiopic Condensed"/>
                <a:cs typeface="Noto Serif Ethiopic Condensed"/>
                <a:sym typeface="Noto Serif Ethiopic Condensed"/>
              </a:rPr>
              <a:t>Practical experience in ER modeling</a:t>
            </a:r>
          </a:p>
          <a:p>
            <a:pPr algn="just" marL="807689" indent="-403845" lvl="1">
              <a:lnSpc>
                <a:spcPts val="5237"/>
              </a:lnSpc>
              <a:buFont typeface="Arial"/>
              <a:buChar char="•"/>
            </a:pPr>
            <a:r>
              <a:rPr lang="en-US" sz="3741">
                <a:solidFill>
                  <a:srgbClr val="E56363"/>
                </a:solidFill>
                <a:latin typeface="Noto Serif Ethiopic Condensed"/>
                <a:ea typeface="Noto Serif Ethiopic Condensed"/>
                <a:cs typeface="Noto Serif Ethiopic Condensed"/>
                <a:sym typeface="Noto Serif Ethiopic Condensed"/>
              </a:rPr>
              <a:t>Real-world application security basics</a:t>
            </a:r>
          </a:p>
        </p:txBody>
      </p:sp>
      <p:sp>
        <p:nvSpPr>
          <p:cNvPr name="TextBox 6" id="6"/>
          <p:cNvSpPr txBox="true"/>
          <p:nvPr/>
        </p:nvSpPr>
        <p:spPr>
          <a:xfrm rot="0">
            <a:off x="510668" y="340769"/>
            <a:ext cx="7888962" cy="828041"/>
          </a:xfrm>
          <a:prstGeom prst="rect">
            <a:avLst/>
          </a:prstGeom>
        </p:spPr>
        <p:txBody>
          <a:bodyPr anchor="t" rtlCol="false" tIns="0" lIns="0" bIns="0" rIns="0">
            <a:spAutoFit/>
          </a:bodyPr>
          <a:lstStyle/>
          <a:p>
            <a:pPr algn="ctr">
              <a:lnSpc>
                <a:spcPts val="6859"/>
              </a:lnSpc>
              <a:spcBef>
                <a:spcPct val="0"/>
              </a:spcBef>
            </a:pPr>
            <a:r>
              <a:rPr lang="en-US" sz="4899">
                <a:solidFill>
                  <a:srgbClr val="FF3131"/>
                </a:solidFill>
                <a:latin typeface="Shrikhand"/>
                <a:ea typeface="Shrikhand"/>
                <a:cs typeface="Shrikhand"/>
                <a:sym typeface="Shrikhand"/>
              </a:rPr>
              <a:t>Conclusion &amp; Learnings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BF7F1"/>
        </a:solidFill>
      </p:bgPr>
    </p:bg>
    <p:spTree>
      <p:nvGrpSpPr>
        <p:cNvPr id="1" name=""/>
        <p:cNvGrpSpPr/>
        <p:nvPr/>
      </p:nvGrpSpPr>
      <p:grpSpPr>
        <a:xfrm>
          <a:off x="0" y="0"/>
          <a:ext cx="0" cy="0"/>
          <a:chOff x="0" y="0"/>
          <a:chExt cx="0" cy="0"/>
        </a:xfrm>
      </p:grpSpPr>
      <p:sp>
        <p:nvSpPr>
          <p:cNvPr name="Freeform 2" id="2"/>
          <p:cNvSpPr/>
          <p:nvPr/>
        </p:nvSpPr>
        <p:spPr>
          <a:xfrm flipH="true" flipV="false" rot="-10800000">
            <a:off x="9223231" y="8895219"/>
            <a:ext cx="11552272" cy="1596314"/>
          </a:xfrm>
          <a:custGeom>
            <a:avLst/>
            <a:gdLst/>
            <a:ahLst/>
            <a:cxnLst/>
            <a:rect r="r" b="b" t="t" l="l"/>
            <a:pathLst>
              <a:path h="1596314" w="11552272">
                <a:moveTo>
                  <a:pt x="11552272" y="0"/>
                </a:moveTo>
                <a:lnTo>
                  <a:pt x="0" y="0"/>
                </a:lnTo>
                <a:lnTo>
                  <a:pt x="0" y="1596314"/>
                </a:lnTo>
                <a:lnTo>
                  <a:pt x="11552272" y="1596314"/>
                </a:lnTo>
                <a:lnTo>
                  <a:pt x="1155227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2649686" y="-149539"/>
            <a:ext cx="11546413" cy="1595504"/>
          </a:xfrm>
          <a:custGeom>
            <a:avLst/>
            <a:gdLst/>
            <a:ahLst/>
            <a:cxnLst/>
            <a:rect r="r" b="b" t="t" l="l"/>
            <a:pathLst>
              <a:path h="1595504" w="11546413">
                <a:moveTo>
                  <a:pt x="11546413" y="0"/>
                </a:moveTo>
                <a:lnTo>
                  <a:pt x="0" y="0"/>
                </a:lnTo>
                <a:lnTo>
                  <a:pt x="0" y="1595505"/>
                </a:lnTo>
                <a:lnTo>
                  <a:pt x="11546413" y="1595505"/>
                </a:lnTo>
                <a:lnTo>
                  <a:pt x="1154641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91967">
            <a:off x="4366081" y="1559751"/>
            <a:ext cx="1707111" cy="1555022"/>
          </a:xfrm>
          <a:custGeom>
            <a:avLst/>
            <a:gdLst/>
            <a:ahLst/>
            <a:cxnLst/>
            <a:rect r="r" b="b" t="t" l="l"/>
            <a:pathLst>
              <a:path h="1555022" w="1707111">
                <a:moveTo>
                  <a:pt x="0" y="0"/>
                </a:moveTo>
                <a:lnTo>
                  <a:pt x="1707110" y="0"/>
                </a:lnTo>
                <a:lnTo>
                  <a:pt x="1707110" y="1555023"/>
                </a:lnTo>
                <a:lnTo>
                  <a:pt x="0" y="15550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512426" y="1028700"/>
            <a:ext cx="3634128" cy="4158041"/>
          </a:xfrm>
          <a:custGeom>
            <a:avLst/>
            <a:gdLst/>
            <a:ahLst/>
            <a:cxnLst/>
            <a:rect r="r" b="b" t="t" l="l"/>
            <a:pathLst>
              <a:path h="4158041" w="3634128">
                <a:moveTo>
                  <a:pt x="0" y="0"/>
                </a:moveTo>
                <a:lnTo>
                  <a:pt x="3634128" y="0"/>
                </a:lnTo>
                <a:lnTo>
                  <a:pt x="3634128" y="4158041"/>
                </a:lnTo>
                <a:lnTo>
                  <a:pt x="0" y="41580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1568932">
            <a:off x="15591427" y="5685088"/>
            <a:ext cx="1480813" cy="2123030"/>
          </a:xfrm>
          <a:custGeom>
            <a:avLst/>
            <a:gdLst/>
            <a:ahLst/>
            <a:cxnLst/>
            <a:rect r="r" b="b" t="t" l="l"/>
            <a:pathLst>
              <a:path h="2123030" w="1480813">
                <a:moveTo>
                  <a:pt x="0" y="0"/>
                </a:moveTo>
                <a:lnTo>
                  <a:pt x="1480813" y="0"/>
                </a:lnTo>
                <a:lnTo>
                  <a:pt x="1480813" y="2123030"/>
                </a:lnTo>
                <a:lnTo>
                  <a:pt x="0" y="212303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5867648" y="2647950"/>
            <a:ext cx="5684814" cy="6115050"/>
          </a:xfrm>
          <a:custGeom>
            <a:avLst/>
            <a:gdLst/>
            <a:ahLst/>
            <a:cxnLst/>
            <a:rect r="r" b="b" t="t" l="l"/>
            <a:pathLst>
              <a:path h="6115050" w="5684814">
                <a:moveTo>
                  <a:pt x="0" y="0"/>
                </a:moveTo>
                <a:lnTo>
                  <a:pt x="5684813" y="0"/>
                </a:lnTo>
                <a:lnTo>
                  <a:pt x="5684813" y="6115050"/>
                </a:lnTo>
                <a:lnTo>
                  <a:pt x="0" y="611505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968472" y="8763000"/>
            <a:ext cx="6590891" cy="438150"/>
          </a:xfrm>
          <a:prstGeom prst="rect">
            <a:avLst/>
          </a:prstGeom>
        </p:spPr>
        <p:txBody>
          <a:bodyPr anchor="t" rtlCol="false" tIns="0" lIns="0" bIns="0" rIns="0">
            <a:spAutoFit/>
          </a:bodyPr>
          <a:lstStyle/>
          <a:p>
            <a:pPr algn="just">
              <a:lnSpc>
                <a:spcPts val="3480"/>
              </a:lnSpc>
              <a:spcBef>
                <a:spcPct val="0"/>
              </a:spcBef>
            </a:pPr>
            <a:r>
              <a:rPr lang="en-US" sz="2900">
                <a:solidFill>
                  <a:srgbClr val="000000"/>
                </a:solidFill>
                <a:latin typeface="Handy Casual"/>
                <a:ea typeface="Handy Casual"/>
                <a:cs typeface="Handy Casual"/>
                <a:sym typeface="Handy Casual"/>
              </a:rPr>
              <a:t>SEMESTER-4{2023-2027}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DAGXBZvj8Ds</dc:identifier>
  <dcterms:modified xsi:type="dcterms:W3CDTF">2011-08-01T06:04:30Z</dcterms:modified>
  <cp:revision>1</cp:revision>
  <dc:title>Advance database mangement system (PRESENTATION)</dc:title>
</cp:coreProperties>
</file>